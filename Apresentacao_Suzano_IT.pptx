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B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2011680"/>
            <a:ext cx="137160" cy="2926080"/>
          </a:xfrm>
          <a:prstGeom prst="rect">
            <a:avLst/>
          </a:prstGeom>
          <a:solidFill>
            <a:srgbClr val="6366F1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920240"/>
            <a:ext cx="9601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6400" b="1">
                <a:solidFill>
                  <a:srgbClr val="F8FAFC"/>
                </a:solidFill>
                <a:latin typeface="Arial"/>
              </a:defRPr>
            </a:pPr>
            <a:r>
              <a:t>SUZANO IT</a:t>
            </a:r>
          </a:p>
          <a:p>
            <a:pPr>
              <a:spcAft>
                <a:spcPts val="2800"/>
              </a:spcAft>
              <a:defRPr sz="2400" b="0">
                <a:solidFill>
                  <a:srgbClr val="38BDF8"/>
                </a:solidFill>
                <a:latin typeface="Arial"/>
              </a:defRPr>
            </a:pPr>
            <a:r>
              <a:t>Tecnologia Inteligente para Gestão de Oficinas e Frotas</a:t>
            </a:r>
          </a:p>
          <a:p>
            <a:pPr>
              <a:spcAft>
                <a:spcPts val="400"/>
              </a:spcAft>
              <a:defRPr sz="1400">
                <a:solidFill>
                  <a:srgbClr val="94A3B8"/>
                </a:solidFill>
                <a:latin typeface="Arial"/>
              </a:defRPr>
            </a:pPr>
            <a:r>
              <a:t>•  Plataforma SaaS Multiempresa (Multi-Tenant)</a:t>
            </a:r>
          </a:p>
          <a:p>
            <a:pPr>
              <a:spcAft>
                <a:spcPts val="400"/>
              </a:spcAft>
              <a:defRPr sz="1400">
                <a:solidFill>
                  <a:srgbClr val="94A3B8"/>
                </a:solidFill>
                <a:latin typeface="Arial"/>
              </a:defRPr>
            </a:pPr>
            <a:r>
              <a:t>•  Inteligência Artificial aplicada ao pós-venda automotivo</a:t>
            </a:r>
          </a:p>
          <a:p>
            <a:pPr>
              <a:spcAft>
                <a:spcPts val="400"/>
              </a:spcAft>
              <a:defRPr sz="1400">
                <a:solidFill>
                  <a:srgbClr val="94A3B8"/>
                </a:solidFill>
                <a:latin typeface="Arial"/>
              </a:defRPr>
            </a:pPr>
            <a:r>
              <a:t>•  Gestão unificada de ordens de serviço, peças, financeiros e frotas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Arial"/>
              </a:defRPr>
            </a:pPr>
            <a:r>
              <a:t>SUZANO IT   |   Tecnologia para Oficinas e Frotas                                                                                   Slide 1 de 14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B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Arial"/>
              </a:defRPr>
            </a:pPr>
            <a:r>
              <a:t>APRESENTAÇÃO INSTITUCIONAL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defRPr sz="2800" b="1">
                <a:solidFill>
                  <a:srgbClr val="F8FAFC"/>
                </a:solidFill>
                <a:latin typeface="Arial"/>
              </a:defRPr>
            </a:pPr>
            <a:r>
              <a:t>Quem Somos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>
                <a:solidFill>
                  <a:srgbClr val="94A3B8"/>
                </a:solidFill>
                <a:latin typeface="Arial"/>
              </a:defRPr>
            </a:pPr>
            <a:r>
              <a:t>A Suzano IT é uma empresa de tecnologia especializada no desenvolvimento de ecossistemas digitais para o setor automotivo.</a:t>
            </a:r>
            <a:br/>
            <a:br/>
            <a:r>
              <a:t>Nosso propósito é reinventar a forma como oficinas mecânicas, auto centers e gestores de frota operam no dia a dia, eliminando controles manuais e proporcionando inteligência e redução de custos reais através de automação na nuvem.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0" y="1828800"/>
            <a:ext cx="5212080" cy="1188720"/>
          </a:xfrm>
          <a:prstGeom prst="rect">
            <a:avLst/>
          </a:prstGeom>
          <a:solidFill>
            <a:srgbClr val="101725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0" y="1920240"/>
            <a:ext cx="48463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 b="1">
                <a:solidFill>
                  <a:srgbClr val="38BDF8"/>
                </a:solidFill>
                <a:latin typeface="Arial"/>
              </a:defRPr>
            </a:pPr>
            <a:r>
              <a:t>Arquitetura 100% em Nuvem</a:t>
            </a:r>
          </a:p>
          <a:p>
            <a:pPr>
              <a:defRPr sz="1200">
                <a:solidFill>
                  <a:srgbClr val="94A3B8"/>
                </a:solidFill>
                <a:latin typeface="Arial"/>
              </a:defRPr>
            </a:pPr>
            <a:r>
              <a:t>Acessível de qualquer lugar, dispensando servidores locais.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0" y="3291840"/>
            <a:ext cx="5212080" cy="1188720"/>
          </a:xfrm>
          <a:prstGeom prst="rect">
            <a:avLst/>
          </a:prstGeom>
          <a:solidFill>
            <a:srgbClr val="101725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3383280"/>
            <a:ext cx="48463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 b="1">
                <a:solidFill>
                  <a:srgbClr val="38BDF8"/>
                </a:solidFill>
                <a:latin typeface="Arial"/>
              </a:defRPr>
            </a:pPr>
            <a:r>
              <a:t>Multiempresa (Multi-Tenant)</a:t>
            </a:r>
          </a:p>
          <a:p>
            <a:pPr>
              <a:defRPr sz="1200">
                <a:solidFill>
                  <a:srgbClr val="94A3B8"/>
                </a:solidFill>
                <a:latin typeface="Arial"/>
              </a:defRPr>
            </a:pPr>
            <a:r>
              <a:t>Ideal para redes de oficinas e controle de múltiplas filiais.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4754880"/>
            <a:ext cx="5212080" cy="1188720"/>
          </a:xfrm>
          <a:prstGeom prst="rect">
            <a:avLst/>
          </a:prstGeom>
          <a:solidFill>
            <a:srgbClr val="101725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4846320"/>
            <a:ext cx="48463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 b="1">
                <a:solidFill>
                  <a:srgbClr val="38BDF8"/>
                </a:solidFill>
                <a:latin typeface="Arial"/>
              </a:defRPr>
            </a:pPr>
            <a:r>
              <a:t>Inteligência Artificial</a:t>
            </a:r>
          </a:p>
          <a:p>
            <a:pPr>
              <a:defRPr sz="1200">
                <a:solidFill>
                  <a:srgbClr val="94A3B8"/>
                </a:solidFill>
                <a:latin typeface="Arial"/>
              </a:defRPr>
            </a:pPr>
            <a:r>
              <a:t>Suzuki-AI aplicada à otimização e produtividade operacional.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40080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Arial"/>
              </a:defRPr>
            </a:pPr>
            <a:r>
              <a:t>SUZANO IT   |   Tecnologia para Oficinas e Frotas                                                                                   Slide 2 de 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B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Arial"/>
              </a:defRPr>
            </a:pPr>
            <a:r>
              <a:t>GARGALOS DO SETOR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defRPr sz="2800" b="1">
                <a:solidFill>
                  <a:srgbClr val="F8FAFC"/>
                </a:solidFill>
                <a:latin typeface="Arial"/>
              </a:defRPr>
            </a:pPr>
            <a:r>
              <a:t>Problemas do Mercado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5303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 b="1">
                <a:solidFill>
                  <a:srgbClr val="F8FAFC"/>
                </a:solidFill>
                <a:latin typeface="Arial"/>
              </a:defRPr>
            </a:pPr>
            <a:r>
              <a:t>Desafios em oficinas e gestão de frotas:</a:t>
            </a:r>
          </a:p>
          <a:p>
            <a:pPr>
              <a:spcAft>
                <a:spcPts val="1000"/>
              </a:spcAft>
              <a:defRPr sz="1300">
                <a:solidFill>
                  <a:srgbClr val="94A3B8"/>
                </a:solidFill>
                <a:latin typeface="Arial"/>
              </a:defRPr>
            </a:pPr>
            <a:r>
              <a:t>❌  Controle manual de ordens de serviço e histórico lento.</a:t>
            </a:r>
          </a:p>
          <a:p>
            <a:pPr>
              <a:spcAft>
                <a:spcPts val="1000"/>
              </a:spcAft>
              <a:defRPr sz="1300">
                <a:solidFill>
                  <a:srgbClr val="94A3B8"/>
                </a:solidFill>
                <a:latin typeface="Arial"/>
              </a:defRPr>
            </a:pPr>
            <a:r>
              <a:t>❌  Falta de rastreabilidade na substituição e cotação de peças.</a:t>
            </a:r>
          </a:p>
          <a:p>
            <a:pPr>
              <a:spcAft>
                <a:spcPts val="1000"/>
              </a:spcAft>
              <a:defRPr sz="1300">
                <a:solidFill>
                  <a:srgbClr val="94A3B8"/>
                </a:solidFill>
                <a:latin typeface="Arial"/>
              </a:defRPr>
            </a:pPr>
            <a:r>
              <a:t>❌  Processos financeiros sem conciliação e com alta inadimplência.</a:t>
            </a:r>
          </a:p>
          <a:p>
            <a:pPr>
              <a:spcAft>
                <a:spcPts val="1000"/>
              </a:spcAft>
              <a:defRPr sz="1300">
                <a:solidFill>
                  <a:srgbClr val="94A3B8"/>
                </a:solidFill>
                <a:latin typeface="Arial"/>
              </a:defRPr>
            </a:pPr>
            <a:r>
              <a:t>❌  Falta de indicadores executivos de desempenho da operação.</a:t>
            </a:r>
          </a:p>
          <a:p>
            <a:pPr>
              <a:spcAft>
                <a:spcPts val="1000"/>
              </a:spcAft>
              <a:defRPr sz="1300">
                <a:solidFill>
                  <a:srgbClr val="94A3B8"/>
                </a:solidFill>
                <a:latin typeface="Arial"/>
              </a:defRPr>
            </a:pPr>
            <a:r>
              <a:t>❌  Desperdício de ativos em frotas por falta de preventiva.</a:t>
            </a:r>
          </a:p>
          <a:p>
            <a:pPr>
              <a:spcAft>
                <a:spcPts val="1000"/>
              </a:spcAft>
              <a:defRPr sz="1300">
                <a:solidFill>
                  <a:srgbClr val="94A3B8"/>
                </a:solidFill>
                <a:latin typeface="Arial"/>
              </a:defRPr>
            </a:pPr>
            <a:r>
              <a:t>❌  Sistemas antigos desconectados ou planilhas difíceis.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0" y="1645920"/>
            <a:ext cx="5029200" cy="4114800"/>
          </a:xfrm>
          <a:prstGeom prst="rect">
            <a:avLst/>
          </a:prstGeom>
          <a:solidFill>
            <a:srgbClr val="1C1216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0" y="1920240"/>
            <a:ext cx="44805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 b="1">
                <a:solidFill>
                  <a:srgbClr val="F87171"/>
                </a:solidFill>
                <a:latin typeface="Arial"/>
              </a:defRPr>
            </a:pPr>
            <a:r>
              <a:t>IMPACTOS FINANCEIROS DIRETOS</a:t>
            </a:r>
          </a:p>
          <a:p>
            <a:pPr>
              <a:spcAft>
                <a:spcPts val="1400"/>
              </a:spcAft>
              <a:defRPr sz="1500">
                <a:solidFill>
                  <a:srgbClr val="94A3B8"/>
                </a:solidFill>
                <a:latin typeface="Arial"/>
              </a:defRPr>
            </a:pPr>
            <a:r>
              <a:t>A ineficiência operacional do controle manual gera desperdícios graves:</a:t>
            </a:r>
            <a:br/>
            <a:br/>
            <a:r>
              <a:t>•  Perda financeira de até 15% por vazamento de caixa e faturamento incorreto.</a:t>
            </a:r>
            <a:br/>
            <a:r>
              <a:t>•  Redução drástica de produtividade dos mecânicos e frotas paradas por quebra corretiva.</a:t>
            </a:r>
            <a:br/>
            <a:r>
              <a:t>•  Dificuldade gerencial por falta de dados para tomadas de decisão rápidas.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Arial"/>
              </a:defRPr>
            </a:pPr>
            <a:r>
              <a:t>SUZANO IT   |   Tecnologia para Oficinas e Frotas                                                                                   Slide 3 de 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B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Arial"/>
              </a:defRPr>
            </a:pPr>
            <a:r>
              <a:t>ECOSSISTEMA SUZANO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defRPr sz="2800" b="1">
                <a:solidFill>
                  <a:srgbClr val="F8FAFC"/>
                </a:solidFill>
                <a:latin typeface="Arial"/>
              </a:defRPr>
            </a:pPr>
            <a:r>
              <a:t>Nossa Solução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94A3B8"/>
                </a:solidFill>
                <a:latin typeface="Arial"/>
              </a:defRPr>
            </a:pPr>
            <a:r>
              <a:t>Centralizamos toda a gestão operacional, de frotas e financeira em um único ecossistema em nuvem.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377440"/>
            <a:ext cx="2499055" cy="3474720"/>
          </a:xfrm>
          <a:prstGeom prst="rect">
            <a:avLst/>
          </a:prstGeom>
          <a:solidFill>
            <a:srgbClr val="101725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560320"/>
            <a:ext cx="2316175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38BDF8"/>
                </a:solidFill>
                <a:latin typeface="Arial"/>
              </a:defRPr>
            </a:pPr>
            <a:r>
              <a:t>Gestão de Oficina</a:t>
            </a:r>
          </a:p>
          <a:p>
            <a:pPr>
              <a:defRPr sz="1300">
                <a:solidFill>
                  <a:srgbClr val="94A3B8"/>
                </a:solidFill>
                <a:latin typeface="Arial"/>
              </a:defRPr>
            </a:pPr>
            <a:r>
              <a:t>Ordens de serviço digitais, controle completo de peças, cadastros de clientes e histórico por placa.</a:t>
            </a:r>
          </a:p>
        </p:txBody>
      </p:sp>
      <p:sp>
        <p:nvSpPr>
          <p:cNvPr id="7" name="Rectangle 6"/>
          <p:cNvSpPr/>
          <p:nvPr/>
        </p:nvSpPr>
        <p:spPr>
          <a:xfrm>
            <a:off x="3474720" y="2377440"/>
            <a:ext cx="2499055" cy="3474720"/>
          </a:xfrm>
          <a:prstGeom prst="rect">
            <a:avLst/>
          </a:prstGeom>
          <a:solidFill>
            <a:srgbClr val="101725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66160" y="2560320"/>
            <a:ext cx="2316175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38BDF8"/>
                </a:solidFill>
                <a:latin typeface="Arial"/>
              </a:defRPr>
            </a:pPr>
            <a:r>
              <a:t>Gestão de Frotas</a:t>
            </a:r>
          </a:p>
          <a:p>
            <a:pPr>
              <a:defRPr sz="1300">
                <a:solidFill>
                  <a:srgbClr val="94A3B8"/>
                </a:solidFill>
                <a:latin typeface="Arial"/>
              </a:defRPr>
            </a:pPr>
            <a:r>
              <a:t>Controle inteligente de pneus, consumo de combustível, motoristas e planos de manutenção preventiva.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2377440"/>
            <a:ext cx="2499055" cy="3474720"/>
          </a:xfrm>
          <a:prstGeom prst="rect">
            <a:avLst/>
          </a:prstGeom>
          <a:solidFill>
            <a:srgbClr val="101725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59" y="2560320"/>
            <a:ext cx="2316175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38BDF8"/>
                </a:solidFill>
                <a:latin typeface="Arial"/>
              </a:defRPr>
            </a:pPr>
            <a:r>
              <a:t>Controle Financeiro</a:t>
            </a:r>
          </a:p>
          <a:p>
            <a:pPr>
              <a:defRPr sz="1300">
                <a:solidFill>
                  <a:srgbClr val="94A3B8"/>
                </a:solidFill>
                <a:latin typeface="Arial"/>
              </a:defRPr>
            </a:pPr>
            <a:r>
              <a:t>Contas a pagar/receber integradas à operação, DRE estruturado e acompanhamento de fluxo de caixa.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61120" y="2377440"/>
            <a:ext cx="2499055" cy="3474720"/>
          </a:xfrm>
          <a:prstGeom prst="rect">
            <a:avLst/>
          </a:prstGeom>
          <a:solidFill>
            <a:srgbClr val="101725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52560" y="2560320"/>
            <a:ext cx="2316175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38BDF8"/>
                </a:solidFill>
                <a:latin typeface="Arial"/>
              </a:defRPr>
            </a:pPr>
            <a:r>
              <a:t>Inteligência Artificial</a:t>
            </a:r>
          </a:p>
          <a:p>
            <a:pPr>
              <a:defRPr sz="1300">
                <a:solidFill>
                  <a:srgbClr val="94A3B8"/>
                </a:solidFill>
                <a:latin typeface="Arial"/>
              </a:defRPr>
            </a:pPr>
            <a:r>
              <a:t>Modelagem preditiva Suzuki-AI para geração automática de NF-e e diagnósticos de desgaste.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640080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Arial"/>
              </a:defRPr>
            </a:pPr>
            <a:r>
              <a:t>SUZANO IT   |   Tecnologia para Oficinas e Frotas                                                                                   Slide 4 de 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B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Arial"/>
              </a:defRPr>
            </a:pPr>
            <a:r>
              <a:t>OPERAÇÃO INTEGRADA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defRPr sz="2800" b="1">
                <a:solidFill>
                  <a:srgbClr val="F8FAFC"/>
                </a:solidFill>
                <a:latin typeface="Arial"/>
              </a:defRPr>
            </a:pPr>
            <a:r>
              <a:t>Módulo: Gestão de Oficina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5303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 b="1">
                <a:solidFill>
                  <a:srgbClr val="F8FAFC"/>
                </a:solidFill>
                <a:latin typeface="Arial"/>
              </a:defRPr>
            </a:pPr>
            <a:r>
              <a:t>Controle absoluto da oficina mecânica:</a:t>
            </a:r>
          </a:p>
          <a:p>
            <a:pPr>
              <a:spcAft>
                <a:spcPts val="1000"/>
              </a:spcAft>
              <a:defRPr sz="1400">
                <a:solidFill>
                  <a:srgbClr val="94A3B8"/>
                </a:solidFill>
                <a:latin typeface="Arial"/>
              </a:defRPr>
            </a:pPr>
            <a:r>
              <a:t>✓  Cadastro rápido de clientes e veículos integrados.</a:t>
            </a:r>
          </a:p>
          <a:p>
            <a:pPr>
              <a:spcAft>
                <a:spcPts val="1000"/>
              </a:spcAft>
              <a:defRPr sz="1400">
                <a:solidFill>
                  <a:srgbClr val="94A3B8"/>
                </a:solidFill>
                <a:latin typeface="Arial"/>
              </a:defRPr>
            </a:pPr>
            <a:r>
              <a:t>✓  Orçamentos comerciais digitais com envio em 1 clique.</a:t>
            </a:r>
          </a:p>
          <a:p>
            <a:pPr>
              <a:spcAft>
                <a:spcPts val="1000"/>
              </a:spcAft>
              <a:defRPr sz="1400">
                <a:solidFill>
                  <a:srgbClr val="94A3B8"/>
                </a:solidFill>
                <a:latin typeface="Arial"/>
              </a:defRPr>
            </a:pPr>
            <a:r>
              <a:t>✓  Ordens de serviço com controle de horas trabalhadas.</a:t>
            </a:r>
          </a:p>
          <a:p>
            <a:pPr>
              <a:spcAft>
                <a:spcPts val="1000"/>
              </a:spcAft>
              <a:defRPr sz="1400">
                <a:solidFill>
                  <a:srgbClr val="94A3B8"/>
                </a:solidFill>
                <a:latin typeface="Arial"/>
              </a:defRPr>
            </a:pPr>
            <a:r>
              <a:t>✓  Gestão de estoque de peças com reposição sugerida.</a:t>
            </a:r>
          </a:p>
          <a:p>
            <a:pPr>
              <a:spcAft>
                <a:spcPts val="1000"/>
              </a:spcAft>
              <a:defRPr sz="1400">
                <a:solidFill>
                  <a:srgbClr val="94A3B8"/>
                </a:solidFill>
                <a:latin typeface="Arial"/>
              </a:defRPr>
            </a:pPr>
            <a:r>
              <a:t>✓  Controle de comissões de mecânicos e consultores.</a:t>
            </a:r>
          </a:p>
          <a:p>
            <a:pPr>
              <a:spcAft>
                <a:spcPts val="1000"/>
              </a:spcAft>
              <a:defRPr sz="1400">
                <a:solidFill>
                  <a:srgbClr val="94A3B8"/>
                </a:solidFill>
                <a:latin typeface="Arial"/>
              </a:defRPr>
            </a:pPr>
            <a:r>
              <a:t>✓  Emissão de Notas Fiscais Eletrônicas de Serviço (NF-e).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0" y="1645920"/>
            <a:ext cx="5029200" cy="4114800"/>
          </a:xfrm>
          <a:prstGeom prst="rect">
            <a:avLst/>
          </a:prstGeom>
          <a:solidFill>
            <a:srgbClr val="101725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0" y="1920240"/>
            <a:ext cx="44805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1400" b="1">
                <a:solidFill>
                  <a:srgbClr val="38BDF8"/>
                </a:solidFill>
                <a:latin typeface="Arial"/>
              </a:defRPr>
            </a:pPr>
            <a:r>
              <a:t>RESULTADOS OPERACIONAIS</a:t>
            </a:r>
          </a:p>
          <a:p>
            <a:pPr>
              <a:defRPr sz="1500">
                <a:solidFill>
                  <a:srgbClr val="94A3B8"/>
                </a:solidFill>
                <a:latin typeface="Arial"/>
              </a:defRPr>
            </a:pPr>
            <a:r>
              <a:t>A digitalização de processos da Suzano IT gera impacto instantâneo:</a:t>
            </a:r>
            <a:br/>
            <a:br/>
            <a:r>
              <a:t>•  Organização completa do pátio mecânico.</a:t>
            </a:r>
            <a:br/>
            <a:r>
              <a:t>•  Melhoria média de 20% no faturamento bruto.</a:t>
            </a:r>
            <a:br/>
            <a:r>
              <a:t>•  Eliminação de erros de digitação e retrabalho.</a:t>
            </a:r>
            <a:br/>
            <a:r>
              <a:t>•  Aumento de confiança do cliente final com laudo online.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Arial"/>
              </a:defRPr>
            </a:pPr>
            <a:r>
              <a:t>SUZANO IT   |   Tecnologia para Oficinas e Frotas                                                                                   Slide 5 de 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B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Arial"/>
              </a:defRPr>
            </a:pPr>
            <a:r>
              <a:t>CONTROLE DE ATIVOS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defRPr sz="2800" b="1">
                <a:solidFill>
                  <a:srgbClr val="F8FAFC"/>
                </a:solidFill>
                <a:latin typeface="Arial"/>
              </a:defRPr>
            </a:pPr>
            <a:r>
              <a:t>Módulo: Gestão de Frotas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5303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 b="1">
                <a:solidFill>
                  <a:srgbClr val="F8FAFC"/>
                </a:solidFill>
                <a:latin typeface="Arial"/>
              </a:defRPr>
            </a:pPr>
            <a:r>
              <a:t>Visão geral e preventiva da frota:</a:t>
            </a:r>
          </a:p>
          <a:p>
            <a:pPr>
              <a:spcAft>
                <a:spcPts val="1000"/>
              </a:spcAft>
              <a:defRPr sz="1400">
                <a:solidFill>
                  <a:srgbClr val="94A3B8"/>
                </a:solidFill>
                <a:latin typeface="Arial"/>
              </a:defRPr>
            </a:pPr>
            <a:r>
              <a:t>✓  Cadastro de veículos e subfrotas organizacionais.</a:t>
            </a:r>
          </a:p>
          <a:p>
            <a:pPr>
              <a:spcAft>
                <a:spcPts val="1000"/>
              </a:spcAft>
              <a:defRPr sz="1400">
                <a:solidFill>
                  <a:srgbClr val="94A3B8"/>
                </a:solidFill>
                <a:latin typeface="Arial"/>
              </a:defRPr>
            </a:pPr>
            <a:r>
              <a:t>✓  Gestão ativa de condutores e histórico de multas.</a:t>
            </a:r>
          </a:p>
          <a:p>
            <a:pPr>
              <a:spcAft>
                <a:spcPts val="1000"/>
              </a:spcAft>
              <a:defRPr sz="1400">
                <a:solidFill>
                  <a:srgbClr val="94A3B8"/>
                </a:solidFill>
                <a:latin typeface="Arial"/>
              </a:defRPr>
            </a:pPr>
            <a:r>
              <a:t>✓  Controle de abastecimento, média de consumo e CPK.</a:t>
            </a:r>
          </a:p>
          <a:p>
            <a:pPr>
              <a:spcAft>
                <a:spcPts val="1000"/>
              </a:spcAft>
              <a:defRPr sz="1400">
                <a:solidFill>
                  <a:srgbClr val="94A3B8"/>
                </a:solidFill>
                <a:latin typeface="Arial"/>
              </a:defRPr>
            </a:pPr>
            <a:r>
              <a:t>✓  Manutenção preventiva com alertas baseados em KM/Tempo.</a:t>
            </a:r>
          </a:p>
          <a:p>
            <a:pPr>
              <a:spcAft>
                <a:spcPts val="1000"/>
              </a:spcAft>
              <a:defRPr sz="1400">
                <a:solidFill>
                  <a:srgbClr val="94A3B8"/>
                </a:solidFill>
                <a:latin typeface="Arial"/>
              </a:defRPr>
            </a:pPr>
            <a:r>
              <a:t>✓  Controle de vida útil de pneus com histórico de rodagem.</a:t>
            </a:r>
          </a:p>
          <a:p>
            <a:pPr>
              <a:spcAft>
                <a:spcPts val="1000"/>
              </a:spcAft>
              <a:defRPr sz="1400">
                <a:solidFill>
                  <a:srgbClr val="94A3B8"/>
                </a:solidFill>
                <a:latin typeface="Arial"/>
              </a:defRPr>
            </a:pPr>
            <a:r>
              <a:t>✓  Rastreabilidade de custos e controle financeiro de ativos.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0" y="1645920"/>
            <a:ext cx="5029200" cy="4114800"/>
          </a:xfrm>
          <a:prstGeom prst="rect">
            <a:avLst/>
          </a:prstGeom>
          <a:solidFill>
            <a:srgbClr val="101725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0" y="1920240"/>
            <a:ext cx="44805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1400" b="1">
                <a:solidFill>
                  <a:srgbClr val="38BDF8"/>
                </a:solidFill>
                <a:latin typeface="Arial"/>
              </a:defRPr>
            </a:pPr>
            <a:r>
              <a:t>BENEFÍCIOS NA GESTÃO DE FROTA</a:t>
            </a:r>
          </a:p>
          <a:p>
            <a:pPr>
              <a:defRPr sz="1500">
                <a:solidFill>
                  <a:srgbClr val="94A3B8"/>
                </a:solidFill>
                <a:latin typeface="Arial"/>
              </a:defRPr>
            </a:pPr>
            <a:r>
              <a:t>Economia em escala para empresas frotistas:</a:t>
            </a:r>
            <a:br/>
            <a:br/>
            <a:r>
              <a:t>•  Redução de custos operacionais diretos por manutenção planejada.</a:t>
            </a:r>
            <a:br/>
            <a:r>
              <a:t>•  Maior disponibilidade física dos veículos nas ruas.</a:t>
            </a:r>
            <a:br/>
            <a:r>
              <a:t>•  Prevenção de quebras graves e paradas indesejadas.</a:t>
            </a:r>
            <a:br/>
            <a:r>
              <a:t>•  Auditoria de consumo de combustível simplificada.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Arial"/>
              </a:defRPr>
            </a:pPr>
            <a:r>
              <a:t>SUZANO IT   |   Tecnologia para Oficinas e Frotas                                                                                   Slide 6 de 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B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Arial"/>
              </a:defRPr>
            </a:pPr>
            <a:r>
              <a:t>TECNOLOGIA SUZUKI-AI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defRPr sz="2800" b="1">
                <a:solidFill>
                  <a:srgbClr val="F8FAFC"/>
                </a:solidFill>
                <a:latin typeface="Arial"/>
              </a:defRPr>
            </a:pPr>
            <a:r>
              <a:t>Inteligência Artificial Integrada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5303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 b="1">
                <a:solidFill>
                  <a:srgbClr val="F8FAFC"/>
                </a:solidFill>
                <a:latin typeface="Arial"/>
              </a:defRPr>
            </a:pPr>
            <a:r>
              <a:t>Inteligência operacional no pós-venda:</a:t>
            </a:r>
          </a:p>
          <a:p>
            <a:pPr>
              <a:spcAft>
                <a:spcPts val="1000"/>
              </a:spcAft>
              <a:defRPr sz="1400">
                <a:solidFill>
                  <a:srgbClr val="94A3B8"/>
                </a:solidFill>
                <a:latin typeface="Arial"/>
              </a:defRPr>
            </a:pPr>
            <a:r>
              <a:t>✨  Geração de descrição de serviços para NF-e a partir de rascunhos informais.</a:t>
            </a:r>
          </a:p>
          <a:p>
            <a:pPr>
              <a:spcAft>
                <a:spcPts val="1000"/>
              </a:spcAft>
              <a:defRPr sz="1400">
                <a:solidFill>
                  <a:srgbClr val="94A3B8"/>
                </a:solidFill>
                <a:latin typeface="Arial"/>
              </a:defRPr>
            </a:pPr>
            <a:r>
              <a:t>✨  Sugestão preditiva de serviços adicionais baseada no modelo de uso do carro.</a:t>
            </a:r>
          </a:p>
          <a:p>
            <a:pPr>
              <a:spcAft>
                <a:spcPts val="1000"/>
              </a:spcAft>
              <a:defRPr sz="1400">
                <a:solidFill>
                  <a:srgbClr val="94A3B8"/>
                </a:solidFill>
                <a:latin typeface="Arial"/>
              </a:defRPr>
            </a:pPr>
            <a:r>
              <a:t>✨  Análise estatística para identificação preditiva de padrões de falhas mecânicas.</a:t>
            </a:r>
          </a:p>
          <a:p>
            <a:pPr>
              <a:spcAft>
                <a:spcPts val="1000"/>
              </a:spcAft>
              <a:defRPr sz="1400">
                <a:solidFill>
                  <a:srgbClr val="94A3B8"/>
                </a:solidFill>
                <a:latin typeface="Arial"/>
              </a:defRPr>
            </a:pPr>
            <a:r>
              <a:t>✨  Relatórios inteligentes para tomadas de decisão sem complexidade.</a:t>
            </a:r>
          </a:p>
          <a:p>
            <a:pPr>
              <a:spcAft>
                <a:spcPts val="1000"/>
              </a:spcAft>
              <a:defRPr sz="1400">
                <a:solidFill>
                  <a:srgbClr val="94A3B8"/>
                </a:solidFill>
                <a:latin typeface="Arial"/>
              </a:defRPr>
            </a:pPr>
            <a:r>
              <a:t>✨  Dashboards preditivos com alertas antecipados de manutenção crítica.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0" y="1645920"/>
            <a:ext cx="5029200" cy="4114800"/>
          </a:xfrm>
          <a:prstGeom prst="rect">
            <a:avLst/>
          </a:prstGeom>
          <a:solidFill>
            <a:srgbClr val="101725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0" y="1920240"/>
            <a:ext cx="44805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38BDF8"/>
                </a:solidFill>
                <a:latin typeface="Arial"/>
              </a:defRPr>
            </a:pPr>
            <a:r>
              <a:t>EXEMPLO DE USO PRÁTICO (SUZUKI-AI)</a:t>
            </a:r>
          </a:p>
          <a:p>
            <a:pPr>
              <a:defRPr sz="1300">
                <a:solidFill>
                  <a:srgbClr val="94A3B8"/>
                </a:solidFill>
                <a:latin typeface="Arial"/>
              </a:defRPr>
            </a:pPr>
            <a:r>
              <a:t>Rascunho de Entrada do Mecânico:</a:t>
            </a:r>
            <a:br/>
            <a:r>
              <a:t>'troca oleo velas filtro ar Corolla'</a:t>
            </a:r>
            <a:br/>
            <a:br/>
            <a:r>
              <a:t>Retorno da IA de Faturamento:</a:t>
            </a:r>
            <a:br/>
            <a:r>
              <a:t>'Prestação de serviços mecânicos englobando diagnóstico computadorizado de injeção, substituição preventiva do filtro de ar e velas de ignição originais, com revisão detalhada do plano de lubrificação do motor.'</a:t>
            </a:r>
            <a:br/>
            <a:br/>
            <a:r>
              <a:t>Benefício: Economia de tempo administrativa de recepção.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Arial"/>
              </a:defRPr>
            </a:pPr>
            <a:r>
              <a:t>SUZANO IT   |   Tecnologia para Oficinas e Frotas                                                                                   Slide 7 de 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B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Arial"/>
              </a:defRPr>
            </a:pPr>
            <a:r>
              <a:t>POR QUE A SUZANO IT?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defRPr sz="2800" b="1">
                <a:solidFill>
                  <a:srgbClr val="F8FAFC"/>
                </a:solidFill>
                <a:latin typeface="Arial"/>
              </a:defRPr>
            </a:pPr>
            <a:r>
              <a:t>Diferenciais Competitivos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828800"/>
            <a:ext cx="3413455" cy="1828800"/>
          </a:xfrm>
          <a:prstGeom prst="rect">
            <a:avLst/>
          </a:prstGeom>
          <a:solidFill>
            <a:srgbClr val="101725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323057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38BDF8"/>
                </a:solidFill>
                <a:latin typeface="Arial"/>
              </a:defRPr>
            </a:pPr>
            <a:r>
              <a:t>SaaS Multiempresa</a:t>
            </a:r>
          </a:p>
          <a:p>
            <a:pPr>
              <a:defRPr sz="1200">
                <a:solidFill>
                  <a:srgbClr val="94A3B8"/>
                </a:solidFill>
                <a:latin typeface="Arial"/>
              </a:defRPr>
            </a:pPr>
            <a:r>
              <a:t>Isolamento lógico absoluto e suporte completo para franquias e filiais.</a:t>
            </a:r>
          </a:p>
        </p:txBody>
      </p:sp>
      <p:sp>
        <p:nvSpPr>
          <p:cNvPr id="6" name="Rectangle 5"/>
          <p:cNvSpPr/>
          <p:nvPr/>
        </p:nvSpPr>
        <p:spPr>
          <a:xfrm>
            <a:off x="4389120" y="1828800"/>
            <a:ext cx="3413455" cy="1828800"/>
          </a:xfrm>
          <a:prstGeom prst="rect">
            <a:avLst/>
          </a:prstGeom>
          <a:solidFill>
            <a:srgbClr val="101725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80559" y="1920240"/>
            <a:ext cx="323057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38BDF8"/>
                </a:solidFill>
                <a:latin typeface="Arial"/>
              </a:defRPr>
            </a:pPr>
            <a:r>
              <a:t>Tabela FIPE Nativa</a:t>
            </a:r>
          </a:p>
          <a:p>
            <a:pPr>
              <a:defRPr sz="1200">
                <a:solidFill>
                  <a:srgbClr val="94A3B8"/>
                </a:solidFill>
                <a:latin typeface="Arial"/>
              </a:defRPr>
            </a:pPr>
            <a:r>
              <a:t>Valores atualizados de mercado integrados diretamente às fichas do veículo.</a:t>
            </a:r>
          </a:p>
        </p:txBody>
      </p:sp>
      <p:sp>
        <p:nvSpPr>
          <p:cNvPr id="8" name="Rectangle 7"/>
          <p:cNvSpPr/>
          <p:nvPr/>
        </p:nvSpPr>
        <p:spPr>
          <a:xfrm>
            <a:off x="8046720" y="1828800"/>
            <a:ext cx="3413455" cy="1828800"/>
          </a:xfrm>
          <a:prstGeom prst="rect">
            <a:avLst/>
          </a:prstGeom>
          <a:solidFill>
            <a:srgbClr val="101725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38160" y="1920240"/>
            <a:ext cx="323057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38BDF8"/>
                </a:solidFill>
                <a:latin typeface="Arial"/>
              </a:defRPr>
            </a:pPr>
            <a:r>
              <a:t>ReceitaWS Integrada</a:t>
            </a:r>
          </a:p>
          <a:p>
            <a:pPr>
              <a:defRPr sz="1200">
                <a:solidFill>
                  <a:srgbClr val="94A3B8"/>
                </a:solidFill>
                <a:latin typeface="Arial"/>
              </a:defRPr>
            </a:pPr>
            <a:r>
              <a:t>Preenchimento imediato de cadastros de pessoas jurídicas usando apenas CNPJ.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4023360"/>
            <a:ext cx="3413455" cy="1828800"/>
          </a:xfrm>
          <a:prstGeom prst="rect">
            <a:avLst/>
          </a:prstGeom>
          <a:solidFill>
            <a:srgbClr val="101725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4114800"/>
            <a:ext cx="323057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38BDF8"/>
                </a:solidFill>
                <a:latin typeface="Arial"/>
              </a:defRPr>
            </a:pPr>
            <a:r>
              <a:t>Faturamento NF-e</a:t>
            </a:r>
          </a:p>
          <a:p>
            <a:pPr>
              <a:defRPr sz="1200">
                <a:solidFill>
                  <a:srgbClr val="94A3B8"/>
                </a:solidFill>
                <a:latin typeface="Arial"/>
              </a:defRPr>
            </a:pPr>
            <a:r>
              <a:t>Emissão tributária ágil em conformidade com as legislações vigentes.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89120" y="4023360"/>
            <a:ext cx="3413455" cy="1828800"/>
          </a:xfrm>
          <a:prstGeom prst="rect">
            <a:avLst/>
          </a:prstGeom>
          <a:solidFill>
            <a:srgbClr val="101725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80559" y="4114800"/>
            <a:ext cx="323057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38BDF8"/>
                </a:solidFill>
                <a:latin typeface="Arial"/>
              </a:defRPr>
            </a:pPr>
            <a:r>
              <a:t>Segurança &amp; LGPD</a:t>
            </a:r>
          </a:p>
          <a:p>
            <a:pPr>
              <a:defRPr sz="1200">
                <a:solidFill>
                  <a:srgbClr val="94A3B8"/>
                </a:solidFill>
                <a:latin typeface="Arial"/>
              </a:defRPr>
            </a:pPr>
            <a:r>
              <a:t>Dados protegidos com criptografia de alto nível e políticas rígidas de acesso.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46720" y="4023360"/>
            <a:ext cx="3413455" cy="1828800"/>
          </a:xfrm>
          <a:prstGeom prst="rect">
            <a:avLst/>
          </a:prstGeom>
          <a:solidFill>
            <a:srgbClr val="101725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38160" y="4114800"/>
            <a:ext cx="323057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38BDF8"/>
                </a:solidFill>
                <a:latin typeface="Arial"/>
              </a:defRPr>
            </a:pPr>
            <a:r>
              <a:t>Cloud Elasticidade</a:t>
            </a:r>
          </a:p>
          <a:p>
            <a:pPr>
              <a:defRPr sz="1200">
                <a:solidFill>
                  <a:srgbClr val="94A3B8"/>
                </a:solidFill>
                <a:latin typeface="Arial"/>
              </a:defRPr>
            </a:pPr>
            <a:r>
              <a:t>Hospedagem elástica AWS e atualizações automáticas sem necessidade de intervenção.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640080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Arial"/>
              </a:defRPr>
            </a:pPr>
            <a:r>
              <a:t>SUZANO IT   |   Tecnologia para Oficinas e Frotas                                                                                   Slide 8 de 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B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Arial"/>
              </a:defRPr>
            </a:pPr>
            <a:r>
              <a:t>MONETIZAÇÃO SAAS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defRPr sz="2800" b="1">
                <a:solidFill>
                  <a:srgbClr val="F8FAFC"/>
                </a:solidFill>
                <a:latin typeface="Arial"/>
              </a:defRPr>
            </a:pPr>
            <a:r>
              <a:t>Modelo de Negócio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94A3B8"/>
                </a:solidFill>
                <a:latin typeface="Arial"/>
              </a:defRPr>
            </a:pPr>
            <a:r>
              <a:t>Assinaturas mensais recorrentes (MRR) estruturadas para crescer conforme o uso e porte do cliente.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103120"/>
            <a:ext cx="3413455" cy="3931920"/>
          </a:xfrm>
          <a:prstGeom prst="rect">
            <a:avLst/>
          </a:prstGeom>
          <a:solidFill>
            <a:srgbClr val="101725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3230575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 b="1">
                <a:solidFill>
                  <a:srgbClr val="38BDF8"/>
                </a:solidFill>
                <a:latin typeface="Arial"/>
              </a:defRPr>
            </a:pPr>
            <a:r>
              <a:t>STARTER</a:t>
            </a:r>
          </a:p>
          <a:p>
            <a:pPr>
              <a:spcAft>
                <a:spcPts val="200"/>
              </a:spcAft>
              <a:defRPr sz="2200" b="1">
                <a:solidFill>
                  <a:srgbClr val="F8FAFC"/>
                </a:solidFill>
                <a:latin typeface="Arial"/>
              </a:defRPr>
            </a:pPr>
            <a:r>
              <a:t>R$ 199 / mês</a:t>
            </a:r>
          </a:p>
          <a:p>
            <a:pPr>
              <a:spcAft>
                <a:spcPts val="18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Pequenas Oficinas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Funcionalidades essenciais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Gestão de OS e Cadastros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Orçamentos comerciais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Suporte digital básico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0" y="2103120"/>
            <a:ext cx="3413455" cy="3931920"/>
          </a:xfrm>
          <a:prstGeom prst="rect">
            <a:avLst/>
          </a:prstGeom>
          <a:solidFill>
            <a:srgbClr val="121E31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559" y="2286000"/>
            <a:ext cx="3230575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 b="1">
                <a:solidFill>
                  <a:srgbClr val="6366F1"/>
                </a:solidFill>
                <a:latin typeface="Arial"/>
              </a:defRPr>
            </a:pPr>
            <a:r>
              <a:t>PROFESSIONAL</a:t>
            </a:r>
          </a:p>
          <a:p>
            <a:pPr>
              <a:spcAft>
                <a:spcPts val="200"/>
              </a:spcAft>
              <a:defRPr sz="2200" b="1">
                <a:solidFill>
                  <a:srgbClr val="F8FAFC"/>
                </a:solidFill>
                <a:latin typeface="Arial"/>
              </a:defRPr>
            </a:pPr>
            <a:r>
              <a:t>R$ 499 / mês</a:t>
            </a:r>
          </a:p>
          <a:p>
            <a:pPr>
              <a:spcAft>
                <a:spcPts val="18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Empresas em Crescimento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Gestão de Oficina completa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Módulo de Frotas básico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Controle financeiro avançado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Emissão integrada de NF-e</a:t>
            </a:r>
          </a:p>
        </p:txBody>
      </p:sp>
      <p:sp>
        <p:nvSpPr>
          <p:cNvPr id="9" name="Rectangle 8"/>
          <p:cNvSpPr/>
          <p:nvPr/>
        </p:nvSpPr>
        <p:spPr>
          <a:xfrm>
            <a:off x="8046720" y="2103120"/>
            <a:ext cx="3413455" cy="3931920"/>
          </a:xfrm>
          <a:prstGeom prst="rect">
            <a:avLst/>
          </a:prstGeom>
          <a:solidFill>
            <a:srgbClr val="101725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38160" y="2286000"/>
            <a:ext cx="3230575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 b="1">
                <a:solidFill>
                  <a:srgbClr val="38BDF8"/>
                </a:solidFill>
                <a:latin typeface="Arial"/>
              </a:defRPr>
            </a:pPr>
            <a:r>
              <a:t>ENTERPRISE</a:t>
            </a:r>
          </a:p>
          <a:p>
            <a:pPr>
              <a:spcAft>
                <a:spcPts val="200"/>
              </a:spcAft>
              <a:defRPr sz="2200" b="1">
                <a:solidFill>
                  <a:srgbClr val="F8FAFC"/>
                </a:solidFill>
                <a:latin typeface="Arial"/>
              </a:defRPr>
            </a:pPr>
            <a:r>
              <a:t>Sob Consulta</a:t>
            </a:r>
          </a:p>
          <a:p>
            <a:pPr>
              <a:spcAft>
                <a:spcPts val="18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Grandes Operações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Frotistas e transportadoras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Integrações de API personalizadas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Arquitetura sob demanda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Suporte e SLA dedicado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40080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Arial"/>
              </a:defRPr>
            </a:pPr>
            <a:r>
              <a:t>SUZANO IT   |   Tecnologia para Oficinas e Frotas                                                                                   Slide 9 de 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B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Arial"/>
              </a:defRPr>
            </a:pPr>
            <a:r>
              <a:t>PÚBLICO E POTENCIAL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defRPr sz="2800" b="1">
                <a:solidFill>
                  <a:srgbClr val="F8FAFC"/>
                </a:solidFill>
                <a:latin typeface="Arial"/>
              </a:defRPr>
            </a:pPr>
            <a:r>
              <a:t>Mercado Alvo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5303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 b="1">
                <a:solidFill>
                  <a:srgbClr val="F8FAFC"/>
                </a:solidFill>
                <a:latin typeface="Arial"/>
              </a:defRPr>
            </a:pPr>
            <a:r>
              <a:t>Quem são nossos clientes:</a:t>
            </a:r>
          </a:p>
          <a:p>
            <a:pPr>
              <a:spcAft>
                <a:spcPts val="1200"/>
              </a:spcAft>
              <a:defRPr sz="1400">
                <a:solidFill>
                  <a:srgbClr val="94A3B8"/>
                </a:solidFill>
                <a:latin typeface="Arial"/>
              </a:defRPr>
            </a:pPr>
            <a:r>
              <a:t>•  Oficinas mecânicas e auto centers independentes.</a:t>
            </a:r>
          </a:p>
          <a:p>
            <a:pPr>
              <a:spcAft>
                <a:spcPts val="1200"/>
              </a:spcAft>
              <a:defRPr sz="1400">
                <a:solidFill>
                  <a:srgbClr val="94A3B8"/>
                </a:solidFill>
                <a:latin typeface="Arial"/>
              </a:defRPr>
            </a:pPr>
            <a:r>
              <a:t>•  Transportadoras, frotas corporativas e logísticas.</a:t>
            </a:r>
          </a:p>
          <a:p>
            <a:pPr>
              <a:spcAft>
                <a:spcPts val="1200"/>
              </a:spcAft>
              <a:defRPr sz="1400">
                <a:solidFill>
                  <a:srgbClr val="94A3B8"/>
                </a:solidFill>
                <a:latin typeface="Arial"/>
              </a:defRPr>
            </a:pPr>
            <a:r>
              <a:t>•  Locadoras de veículos e cooperativas de táxi/aplicativos.</a:t>
            </a:r>
          </a:p>
          <a:p>
            <a:pPr>
              <a:spcAft>
                <a:spcPts val="1200"/>
              </a:spcAft>
              <a:defRPr sz="1400">
                <a:solidFill>
                  <a:srgbClr val="94A3B8"/>
                </a:solidFill>
                <a:latin typeface="Arial"/>
              </a:defRPr>
            </a:pPr>
            <a:r>
              <a:t>•  Concessionárias de veículos e redes de autopeças.</a:t>
            </a:r>
          </a:p>
          <a:p>
            <a:pPr>
              <a:spcAft>
                <a:spcPts val="1200"/>
              </a:spcAft>
              <a:defRPr sz="1400">
                <a:solidFill>
                  <a:srgbClr val="94A3B8"/>
                </a:solidFill>
                <a:latin typeface="Arial"/>
              </a:defRPr>
            </a:pPr>
            <a:r>
              <a:t>•  Prefeituras municipais e órgãos governamentais.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0" y="1645920"/>
            <a:ext cx="5029200" cy="4114800"/>
          </a:xfrm>
          <a:prstGeom prst="rect">
            <a:avLst/>
          </a:prstGeom>
          <a:solidFill>
            <a:srgbClr val="101725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0" y="1920240"/>
            <a:ext cx="44805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1400" b="1">
                <a:solidFill>
                  <a:srgbClr val="38BDF8"/>
                </a:solidFill>
                <a:latin typeface="Arial"/>
              </a:defRPr>
            </a:pPr>
            <a:r>
              <a:t>POTENCIAL DE CRESCIMENTO</a:t>
            </a:r>
          </a:p>
          <a:p>
            <a:pPr>
              <a:defRPr sz="1500">
                <a:solidFill>
                  <a:srgbClr val="94A3B8"/>
                </a:solidFill>
                <a:latin typeface="Arial"/>
              </a:defRPr>
            </a:pPr>
            <a:r>
              <a:t>O mercado brasileiro conta com mais de 100 mil oficinas de pós-venda cadastradas e um crescimento acelerado no número de empresas optando por gerenciar frotas próprias para reduzir custos de distribuição.</a:t>
            </a:r>
            <a:br/>
            <a:br/>
            <a:r>
              <a:t>A digitalização e a inteligência operacional são as maiores prioridades para o setor nos próximos anos.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Arial"/>
              </a:defRPr>
            </a:pPr>
            <a:r>
              <a:t>SUZANO IT   |   Tecnologia para Oficinas e Frotas                                                                                   Slide 10 de 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B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Arial"/>
              </a:defRPr>
            </a:pPr>
            <a:r>
              <a:t>TECNOLOGIA E PERFORMANCE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defRPr sz="2800" b="1">
                <a:solidFill>
                  <a:srgbClr val="F8FAFC"/>
                </a:solidFill>
                <a:latin typeface="Arial"/>
              </a:defRPr>
            </a:pPr>
            <a:r>
              <a:t>Arquitetura Tecnológica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828800"/>
            <a:ext cx="2499055" cy="3931920"/>
          </a:xfrm>
          <a:prstGeom prst="rect">
            <a:avLst/>
          </a:prstGeom>
          <a:solidFill>
            <a:srgbClr val="101725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011680"/>
            <a:ext cx="2316175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 b="1">
                <a:solidFill>
                  <a:srgbClr val="38BDF8"/>
                </a:solidFill>
                <a:latin typeface="Arial"/>
              </a:defRPr>
            </a:pPr>
            <a:r>
              <a:t>Frontend</a:t>
            </a:r>
          </a:p>
          <a:p>
            <a:pPr>
              <a:defRPr sz="1200">
                <a:solidFill>
                  <a:srgbClr val="94A3B8"/>
                </a:solidFill>
                <a:latin typeface="Arial"/>
              </a:defRPr>
            </a:pPr>
            <a:r>
              <a:t>React</a:t>
            </a:r>
            <a:br/>
            <a:r>
              <a:t>TypeScript</a:t>
            </a:r>
            <a:br/>
            <a:r>
              <a:t>Tailwind CSS</a:t>
            </a:r>
            <a:br/>
            <a:br/>
            <a:r>
              <a:t>•  Interface SPA responsiva e veloz.</a:t>
            </a:r>
          </a:p>
        </p:txBody>
      </p:sp>
      <p:sp>
        <p:nvSpPr>
          <p:cNvPr id="6" name="Rectangle 5"/>
          <p:cNvSpPr/>
          <p:nvPr/>
        </p:nvSpPr>
        <p:spPr>
          <a:xfrm>
            <a:off x="3474720" y="1828800"/>
            <a:ext cx="2499055" cy="3931920"/>
          </a:xfrm>
          <a:prstGeom prst="rect">
            <a:avLst/>
          </a:prstGeom>
          <a:solidFill>
            <a:srgbClr val="101725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566160" y="2011680"/>
            <a:ext cx="2316175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 b="1">
                <a:solidFill>
                  <a:srgbClr val="38BDF8"/>
                </a:solidFill>
                <a:latin typeface="Arial"/>
              </a:defRPr>
            </a:pPr>
            <a:r>
              <a:t>Backend</a:t>
            </a:r>
          </a:p>
          <a:p>
            <a:pPr>
              <a:defRPr sz="1200">
                <a:solidFill>
                  <a:srgbClr val="94A3B8"/>
                </a:solidFill>
                <a:latin typeface="Arial"/>
              </a:defRPr>
            </a:pPr>
            <a:r>
              <a:t>Kotlin</a:t>
            </a:r>
            <a:br/>
            <a:r>
              <a:t>Spring Boot</a:t>
            </a:r>
            <a:br/>
            <a:r>
              <a:t>Java Virtual Machine</a:t>
            </a:r>
            <a:br/>
            <a:br/>
            <a:r>
              <a:t>•  Segurança robusta e performance corporativa.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828800"/>
            <a:ext cx="2499055" cy="3931920"/>
          </a:xfrm>
          <a:prstGeom prst="rect">
            <a:avLst/>
          </a:prstGeom>
          <a:solidFill>
            <a:srgbClr val="101725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9359" y="2011680"/>
            <a:ext cx="2316175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 b="1">
                <a:solidFill>
                  <a:srgbClr val="38BDF8"/>
                </a:solidFill>
                <a:latin typeface="Arial"/>
              </a:defRPr>
            </a:pPr>
            <a:r>
              <a:t>Banco de Dados</a:t>
            </a:r>
          </a:p>
          <a:p>
            <a:pPr>
              <a:defRPr sz="1200">
                <a:solidFill>
                  <a:srgbClr val="94A3B8"/>
                </a:solidFill>
                <a:latin typeface="Arial"/>
              </a:defRPr>
            </a:pPr>
            <a:r>
              <a:t>PostgreSQL</a:t>
            </a:r>
            <a:br/>
            <a:br/>
            <a:br/>
            <a:r>
              <a:t>•  Persistência relacional estável com alta auditabilidade.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961120" y="1828800"/>
            <a:ext cx="2499055" cy="3931920"/>
          </a:xfrm>
          <a:prstGeom prst="rect">
            <a:avLst/>
          </a:prstGeom>
          <a:solidFill>
            <a:srgbClr val="101725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52560" y="2011680"/>
            <a:ext cx="2316175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 b="1">
                <a:solidFill>
                  <a:srgbClr val="38BDF8"/>
                </a:solidFill>
                <a:latin typeface="Arial"/>
              </a:defRPr>
            </a:pPr>
            <a:r>
              <a:t>Segurança &amp; Cloud</a:t>
            </a:r>
          </a:p>
          <a:p>
            <a:pPr>
              <a:defRPr sz="1200">
                <a:solidFill>
                  <a:srgbClr val="94A3B8"/>
                </a:solidFill>
                <a:latin typeface="Arial"/>
              </a:defRPr>
            </a:pPr>
            <a:r>
              <a:t>JWT Autenticação</a:t>
            </a:r>
            <a:br/>
            <a:r>
              <a:t>Docker Containers</a:t>
            </a:r>
            <a:br/>
            <a:r>
              <a:t>AWS Cloud</a:t>
            </a:r>
            <a:br/>
            <a:br/>
            <a:r>
              <a:t>•  Segurança corporativa aderente à LGPD.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40080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Arial"/>
              </a:defRPr>
            </a:pPr>
            <a:r>
              <a:t>SUZANO IT   |   Tecnologia para Oficinas e Frotas                                                                                   Slide 11 de 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B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Arial"/>
              </a:defRPr>
            </a:pPr>
            <a:r>
              <a:t>CRONOGRAMA DE LANÇAMENTO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defRPr sz="2800" b="1">
                <a:solidFill>
                  <a:srgbClr val="F8FAFC"/>
                </a:solidFill>
                <a:latin typeface="Arial"/>
              </a:defRPr>
            </a:pPr>
            <a:r>
              <a:t>Roadmap de Evolução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2103120"/>
            <a:ext cx="1401775" cy="3474720"/>
          </a:xfrm>
          <a:prstGeom prst="rect">
            <a:avLst/>
          </a:prstGeom>
          <a:solidFill>
            <a:srgbClr val="101B17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310335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 b="1">
                <a:solidFill>
                  <a:srgbClr val="F8FAFC"/>
                </a:solidFill>
                <a:latin typeface="Arial"/>
              </a:defRPr>
            </a:pPr>
            <a:r>
              <a:t>Fase 1</a:t>
            </a:r>
          </a:p>
          <a:p>
            <a:pPr>
              <a:spcAft>
                <a:spcPts val="1800"/>
              </a:spcAft>
              <a:defRPr sz="1200" b="1">
                <a:solidFill>
                  <a:srgbClr val="38BDF8"/>
                </a:solidFill>
                <a:latin typeface="Arial"/>
              </a:defRPr>
            </a:pPr>
            <a:r>
              <a:t>Gestão Oficina</a:t>
            </a:r>
          </a:p>
          <a:p>
            <a:pPr>
              <a:defRPr sz="1100">
                <a:solidFill>
                  <a:srgbClr val="22C55E"/>
                </a:solidFill>
                <a:latin typeface="Arial"/>
              </a:defRPr>
            </a:pPr>
            <a:r>
              <a:t>✓ Concluído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00" y="2103120"/>
            <a:ext cx="1401775" cy="3474720"/>
          </a:xfrm>
          <a:prstGeom prst="rect">
            <a:avLst/>
          </a:prstGeom>
          <a:solidFill>
            <a:srgbClr val="101B17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331720" y="2286000"/>
            <a:ext cx="1310335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 b="1">
                <a:solidFill>
                  <a:srgbClr val="F8FAFC"/>
                </a:solidFill>
                <a:latin typeface="Arial"/>
              </a:defRPr>
            </a:pPr>
            <a:r>
              <a:t>Fase 2</a:t>
            </a:r>
          </a:p>
          <a:p>
            <a:pPr>
              <a:spcAft>
                <a:spcPts val="1800"/>
              </a:spcAft>
              <a:defRPr sz="1200" b="1">
                <a:solidFill>
                  <a:srgbClr val="38BDF8"/>
                </a:solidFill>
                <a:latin typeface="Arial"/>
              </a:defRPr>
            </a:pPr>
            <a:r>
              <a:t>Gestão Frota</a:t>
            </a:r>
          </a:p>
          <a:p>
            <a:pPr>
              <a:defRPr sz="1100">
                <a:solidFill>
                  <a:srgbClr val="22C55E"/>
                </a:solidFill>
                <a:latin typeface="Arial"/>
              </a:defRPr>
            </a:pPr>
            <a:r>
              <a:t>✓ Concluído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0" y="2103120"/>
            <a:ext cx="1401775" cy="3474720"/>
          </a:xfrm>
          <a:prstGeom prst="rect">
            <a:avLst/>
          </a:prstGeom>
          <a:solidFill>
            <a:srgbClr val="101B17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86200" y="2286000"/>
            <a:ext cx="1310335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 b="1">
                <a:solidFill>
                  <a:srgbClr val="F8FAFC"/>
                </a:solidFill>
                <a:latin typeface="Arial"/>
              </a:defRPr>
            </a:pPr>
            <a:r>
              <a:t>Fase 3</a:t>
            </a:r>
          </a:p>
          <a:p>
            <a:pPr>
              <a:spcAft>
                <a:spcPts val="1800"/>
              </a:spcAft>
              <a:defRPr sz="1200" b="1">
                <a:solidFill>
                  <a:srgbClr val="38BDF8"/>
                </a:solidFill>
                <a:latin typeface="Arial"/>
              </a:defRPr>
            </a:pPr>
            <a:r>
              <a:t>Integração NF-e</a:t>
            </a:r>
          </a:p>
          <a:p>
            <a:pPr>
              <a:defRPr sz="1100">
                <a:solidFill>
                  <a:srgbClr val="22C55E"/>
                </a:solidFill>
                <a:latin typeface="Arial"/>
              </a:defRPr>
            </a:pPr>
            <a:r>
              <a:t>✓ Concluído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94960" y="2103120"/>
            <a:ext cx="1401775" cy="3474720"/>
          </a:xfrm>
          <a:prstGeom prst="rect">
            <a:avLst/>
          </a:prstGeom>
          <a:solidFill>
            <a:srgbClr val="101B17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40680" y="2286000"/>
            <a:ext cx="1310335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 b="1">
                <a:solidFill>
                  <a:srgbClr val="F8FAFC"/>
                </a:solidFill>
                <a:latin typeface="Arial"/>
              </a:defRPr>
            </a:pPr>
            <a:r>
              <a:t>Fase 4</a:t>
            </a:r>
          </a:p>
          <a:p>
            <a:pPr>
              <a:spcAft>
                <a:spcPts val="1800"/>
              </a:spcAft>
              <a:defRPr sz="1200" b="1">
                <a:solidFill>
                  <a:srgbClr val="38BDF8"/>
                </a:solidFill>
                <a:latin typeface="Arial"/>
              </a:defRPr>
            </a:pPr>
            <a:r>
              <a:t>Inteligência Artif.</a:t>
            </a:r>
          </a:p>
          <a:p>
            <a:pPr>
              <a:defRPr sz="1100">
                <a:solidFill>
                  <a:srgbClr val="22C55E"/>
                </a:solidFill>
                <a:latin typeface="Arial"/>
              </a:defRPr>
            </a:pPr>
            <a:r>
              <a:t>✓ Concluído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949440" y="2103120"/>
            <a:ext cx="1401775" cy="3474720"/>
          </a:xfrm>
          <a:prstGeom prst="rect">
            <a:avLst/>
          </a:prstGeom>
          <a:solidFill>
            <a:srgbClr val="101728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95159" y="2286000"/>
            <a:ext cx="1310335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 b="1">
                <a:solidFill>
                  <a:srgbClr val="F8FAFC"/>
                </a:solidFill>
                <a:latin typeface="Arial"/>
              </a:defRPr>
            </a:pPr>
            <a:r>
              <a:t>Fase 5</a:t>
            </a:r>
          </a:p>
          <a:p>
            <a:pPr>
              <a:spcAft>
                <a:spcPts val="1800"/>
              </a:spcAft>
              <a:defRPr sz="1200" b="1">
                <a:solidFill>
                  <a:srgbClr val="38BDF8"/>
                </a:solidFill>
                <a:latin typeface="Arial"/>
              </a:defRPr>
            </a:pPr>
            <a:r>
              <a:t>Aplicativo Mobile</a:t>
            </a:r>
          </a:p>
          <a:p>
            <a:pPr>
              <a:defRPr sz="1100">
                <a:solidFill>
                  <a:srgbClr val="38BDF8"/>
                </a:solidFill>
                <a:latin typeface="Arial"/>
              </a:defRPr>
            </a:pPr>
            <a:r>
              <a:t>Próximo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503920" y="2103120"/>
            <a:ext cx="1401775" cy="3474720"/>
          </a:xfrm>
          <a:prstGeom prst="rect">
            <a:avLst/>
          </a:prstGeom>
          <a:solidFill>
            <a:srgbClr val="101725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49640" y="2286000"/>
            <a:ext cx="1310335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 b="1">
                <a:solidFill>
                  <a:srgbClr val="F8FAFC"/>
                </a:solidFill>
                <a:latin typeface="Arial"/>
              </a:defRPr>
            </a:pPr>
            <a:r>
              <a:t>Fase 6</a:t>
            </a:r>
          </a:p>
          <a:p>
            <a:pPr>
              <a:spcAft>
                <a:spcPts val="1800"/>
              </a:spcAft>
              <a:defRPr sz="1200" b="1">
                <a:solidFill>
                  <a:srgbClr val="38BDF8"/>
                </a:solidFill>
                <a:latin typeface="Arial"/>
              </a:defRPr>
            </a:pPr>
            <a:r>
              <a:t>Marketplace</a:t>
            </a:r>
          </a:p>
          <a:p>
            <a:pPr>
              <a:defRPr sz="1100">
                <a:solidFill>
                  <a:srgbClr val="94A3B8"/>
                </a:solidFill>
                <a:latin typeface="Arial"/>
              </a:defRPr>
            </a:pPr>
            <a:r>
              <a:t>Futuro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058400" y="2103120"/>
            <a:ext cx="1401775" cy="3474720"/>
          </a:xfrm>
          <a:prstGeom prst="rect">
            <a:avLst/>
          </a:prstGeom>
          <a:solidFill>
            <a:srgbClr val="101725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104120" y="2286000"/>
            <a:ext cx="1310335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 b="1">
                <a:solidFill>
                  <a:srgbClr val="F8FAFC"/>
                </a:solidFill>
                <a:latin typeface="Arial"/>
              </a:defRPr>
            </a:pPr>
            <a:r>
              <a:t>Fase 7</a:t>
            </a:r>
          </a:p>
          <a:p>
            <a:pPr>
              <a:spcAft>
                <a:spcPts val="1800"/>
              </a:spcAft>
              <a:defRPr sz="1200" b="1">
                <a:solidFill>
                  <a:srgbClr val="38BDF8"/>
                </a:solidFill>
                <a:latin typeface="Arial"/>
              </a:defRPr>
            </a:pPr>
            <a:r>
              <a:t>BI &amp; Analytics</a:t>
            </a:r>
          </a:p>
          <a:p>
            <a:pPr>
              <a:defRPr sz="1100">
                <a:solidFill>
                  <a:srgbClr val="94A3B8"/>
                </a:solidFill>
                <a:latin typeface="Arial"/>
              </a:defRPr>
            </a:pPr>
            <a:r>
              <a:t>Futuro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640080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Arial"/>
              </a:defRPr>
            </a:pPr>
            <a:r>
              <a:t>SUZANO IT   |   Tecnologia para Oficinas e Frotas                                                                                   Slide 12 de 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B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Arial"/>
              </a:defRPr>
            </a:pPr>
            <a:r>
              <a:t>RESULTADOS FINAIS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defRPr sz="2800" b="1">
                <a:solidFill>
                  <a:srgbClr val="F8FAFC"/>
                </a:solidFill>
                <a:latin typeface="Arial"/>
              </a:defRPr>
            </a:pPr>
            <a:r>
              <a:t>Benefícios para o Cliente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2011680"/>
            <a:ext cx="2499055" cy="3566160"/>
          </a:xfrm>
          <a:prstGeom prst="rect">
            <a:avLst/>
          </a:prstGeom>
          <a:solidFill>
            <a:srgbClr val="101725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194560"/>
            <a:ext cx="231617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38BDF8"/>
                </a:solidFill>
                <a:latin typeface="Arial"/>
              </a:defRPr>
            </a:pPr>
            <a:r>
              <a:t>Redução de Custos</a:t>
            </a:r>
          </a:p>
          <a:p>
            <a:pPr>
              <a:defRPr sz="1300">
                <a:solidFill>
                  <a:srgbClr val="94A3B8"/>
                </a:solidFill>
                <a:latin typeface="Arial"/>
              </a:defRPr>
            </a:pPr>
            <a:r>
              <a:t>Evita quebras inesperadas através de cronogramas rígidos de manutenção preventiva na frota.</a:t>
            </a:r>
          </a:p>
        </p:txBody>
      </p:sp>
      <p:sp>
        <p:nvSpPr>
          <p:cNvPr id="6" name="Rectangle 5"/>
          <p:cNvSpPr/>
          <p:nvPr/>
        </p:nvSpPr>
        <p:spPr>
          <a:xfrm>
            <a:off x="3474720" y="2011680"/>
            <a:ext cx="2499055" cy="3566160"/>
          </a:xfrm>
          <a:prstGeom prst="rect">
            <a:avLst/>
          </a:prstGeom>
          <a:solidFill>
            <a:srgbClr val="101725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566160" y="2194560"/>
            <a:ext cx="231617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38BDF8"/>
                </a:solidFill>
                <a:latin typeface="Arial"/>
              </a:defRPr>
            </a:pPr>
            <a:r>
              <a:t>Organização Geral</a:t>
            </a:r>
          </a:p>
          <a:p>
            <a:pPr>
              <a:defRPr sz="1300">
                <a:solidFill>
                  <a:srgbClr val="94A3B8"/>
                </a:solidFill>
                <a:latin typeface="Arial"/>
              </a:defRPr>
            </a:pPr>
            <a:r>
              <a:t>Fluxo operacional padronizado desde a abertura da OS até o faturamento e envio de laudos.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2011680"/>
            <a:ext cx="2499055" cy="3566160"/>
          </a:xfrm>
          <a:prstGeom prst="rect">
            <a:avLst/>
          </a:prstGeom>
          <a:solidFill>
            <a:srgbClr val="101725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9359" y="2194560"/>
            <a:ext cx="231617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38BDF8"/>
                </a:solidFill>
                <a:latin typeface="Arial"/>
              </a:defRPr>
            </a:pPr>
            <a:r>
              <a:t>Decisões com Dados</a:t>
            </a:r>
          </a:p>
          <a:p>
            <a:pPr>
              <a:defRPr sz="1300">
                <a:solidFill>
                  <a:srgbClr val="94A3B8"/>
                </a:solidFill>
                <a:latin typeface="Arial"/>
              </a:defRPr>
            </a:pPr>
            <a:r>
              <a:t>Indicadores e relatórios consolidados em dashboards executivos em tempo real.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961120" y="2011680"/>
            <a:ext cx="2499055" cy="3566160"/>
          </a:xfrm>
          <a:prstGeom prst="rect">
            <a:avLst/>
          </a:prstGeom>
          <a:solidFill>
            <a:srgbClr val="101725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52560" y="2194560"/>
            <a:ext cx="231617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38BDF8"/>
                </a:solidFill>
                <a:latin typeface="Arial"/>
              </a:defRPr>
            </a:pPr>
            <a:r>
              <a:t>Produtividade Elevada</a:t>
            </a:r>
          </a:p>
          <a:p>
            <a:pPr>
              <a:defRPr sz="1300">
                <a:solidFill>
                  <a:srgbClr val="94A3B8"/>
                </a:solidFill>
                <a:latin typeface="Arial"/>
              </a:defRPr>
            </a:pPr>
            <a:r>
              <a:t>Eliminação de controles em papéis e digitação manual por meio de automação e Inteligência Artificial.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40080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Arial"/>
              </a:defRPr>
            </a:pPr>
            <a:r>
              <a:t>SUZANO IT   |   Tecnologia para Oficinas e Frotas                                                                                   Slide 13 de 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B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828800" y="1645920"/>
            <a:ext cx="8534095" cy="3840480"/>
          </a:xfrm>
          <a:prstGeom prst="rect">
            <a:avLst/>
          </a:prstGeom>
          <a:solidFill>
            <a:srgbClr val="101725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103120" y="1828800"/>
            <a:ext cx="7985455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  <a:defRPr sz="4000" b="1">
                <a:solidFill>
                  <a:srgbClr val="F8FAFC"/>
                </a:solidFill>
                <a:latin typeface="Arial"/>
              </a:defRPr>
            </a:pPr>
            <a:r>
              <a:t>SUZANO IT</a:t>
            </a:r>
          </a:p>
          <a:p>
            <a:pPr algn="ctr">
              <a:spcAft>
                <a:spcPts val="2800"/>
              </a:spcAft>
              <a:defRPr sz="1600">
                <a:solidFill>
                  <a:srgbClr val="38BDF8"/>
                </a:solidFill>
                <a:latin typeface="Arial"/>
              </a:defRPr>
            </a:pPr>
            <a:r>
              <a:t>Tecnologia Inteligente para Gestão de Oficinas e Frotas</a:t>
            </a:r>
          </a:p>
          <a:p>
            <a:pPr algn="ctr">
              <a:spcAft>
                <a:spcPts val="2800"/>
              </a:spcAft>
              <a:defRPr sz="1400">
                <a:solidFill>
                  <a:srgbClr val="94A3B8"/>
                </a:solidFill>
                <a:latin typeface="Arial"/>
              </a:defRPr>
            </a:pPr>
            <a:r>
              <a:t>Website: www.suzanoit.com.br</a:t>
            </a:r>
            <a:br/>
            <a:r>
              <a:t>E-mail: contato@suzanoit.com.br</a:t>
            </a:r>
          </a:p>
          <a:p>
            <a:pPr algn="ctr">
              <a:defRPr sz="1600" b="1">
                <a:solidFill>
                  <a:srgbClr val="38BDF8"/>
                </a:solidFill>
                <a:latin typeface="Arial"/>
              </a:defRPr>
            </a:pPr>
            <a:r>
              <a:t>"Mais controle. Mais produtividade. Mais resultado."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Arial"/>
              </a:defRPr>
            </a:pPr>
            <a:r>
              <a:t>SUZANO IT   |   Tecnologia para Oficinas e Frotas                                                                                   Slide 14 de 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