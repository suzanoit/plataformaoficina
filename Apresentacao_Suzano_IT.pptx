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011680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97680" y="1920240"/>
            <a:ext cx="548640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6800" b="1">
                <a:solidFill>
                  <a:srgbClr val="FFFFFF"/>
                </a:solidFill>
                <a:latin typeface="Arial"/>
              </a:rPr>
              <a:t>Suzano</a:t>
            </a:r>
            <a:r>
              <a:rPr sz="6800" b="1">
                <a:solidFill>
                  <a:srgbClr val="FF7900"/>
                </a:solidFill>
                <a:latin typeface="Arial"/>
              </a:rPr>
              <a:t>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3390" y="3931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Tecnologia que move frotas.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1 de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900"/>
                </a:solidFill>
                <a:latin typeface="Arial"/>
              </a:defRPr>
            </a:pPr>
            <a:r>
              <a:t>CONCEITO E INTEGRAÇÃO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Visão Geral da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1A1AA"/>
                </a:solidFill>
                <a:latin typeface="Arial"/>
              </a:defRPr>
            </a:pPr>
            <a:r>
              <a:t>Uma solução robusta desenvolvida para unificar e modernizar todas as etapas operacionais do setor.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3413455" cy="34747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32305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Multi-Tenant</a:t>
            </a:r>
          </a:p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Plataforma SaaS multiempresa ideal para redes de oficinas, concessionárias e controle unificado de múltiplas filiais.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377440"/>
            <a:ext cx="3413455" cy="34747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2560320"/>
            <a:ext cx="32305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Inteligência Artificial</a:t>
            </a:r>
          </a:p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CMH-AI aplicada para faturamento rápido de serviços, laudos inteligentes e pós-venda automotivo de alta precisão.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377440"/>
            <a:ext cx="3413455" cy="34747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560320"/>
            <a:ext cx="32305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Gestão Unificada</a:t>
            </a:r>
          </a:p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Controle centralizado de ordens de serviço, estoque de peças, módulos financeiros e gestão preventiva de frotas.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2 de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900"/>
                </a:solidFill>
                <a:latin typeface="Arial"/>
              </a:defRPr>
            </a:pPr>
            <a:r>
              <a:t>APRESENTAÇÃO INSTITUCIONAL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Quem Somos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A1A1AA"/>
                </a:solidFill>
                <a:latin typeface="Arial"/>
              </a:defRPr>
            </a:pPr>
            <a:r>
              <a:t>A Suzano IT é uma empresa de tecnologia especializada no desenvolvimento de ecossistemas digitais para o setor automotivo.</a:t>
            </a:r>
            <a:br/>
            <a:br/>
            <a:r>
              <a:t>Nosso propósito é reinventar a forma como oficinas mecânicas, auto centers e gestores de frota operam no dia a dia, eliminando controles manuais e proporcionando inteligência e redução de custos reais através de automação na nuvem.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1887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7900"/>
                </a:solidFill>
                <a:latin typeface="Arial"/>
              </a:defRPr>
            </a:pPr>
            <a:r>
              <a:t>Arquitetura 100% em Nuvem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Acessível de qualquer lugar, dispensando servidores locais.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291840"/>
            <a:ext cx="5212080" cy="11887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7900"/>
                </a:solidFill>
                <a:latin typeface="Arial"/>
              </a:defRPr>
            </a:pPr>
            <a:r>
              <a:t>Multiempresa (Multi-Tenant)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Ideal para redes de oficinas e controle de múltiplas filiais.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754880"/>
            <a:ext cx="5212080" cy="11887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8463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7900"/>
                </a:solidFill>
                <a:latin typeface="Arial"/>
              </a:defRPr>
            </a:pPr>
            <a:r>
              <a:t>Inteligência Artificial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CMH-AI aplicada à otimização e produtividade operacional.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3 de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900"/>
                </a:solidFill>
                <a:latin typeface="Arial"/>
              </a:defRPr>
            </a:pPr>
            <a:r>
              <a:t>GARGALOS DO SETOR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Problemas do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Desafios em oficinas e gestão de frotas:</a:t>
            </a:r>
          </a:p>
          <a:p>
            <a:pPr>
              <a:spcAft>
                <a:spcPts val="10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❌  Controle manual de ordens de serviço e histórico lento.</a:t>
            </a:r>
          </a:p>
          <a:p>
            <a:pPr>
              <a:spcAft>
                <a:spcPts val="10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❌  Falta de rastreabilidade na substituição e cotação de peças.</a:t>
            </a:r>
          </a:p>
          <a:p>
            <a:pPr>
              <a:spcAft>
                <a:spcPts val="10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❌  Processos financeiros sem conciliação e com alta inadimplência.</a:t>
            </a:r>
          </a:p>
          <a:p>
            <a:pPr>
              <a:spcAft>
                <a:spcPts val="10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❌  Falta de indicadores executivos de desempenho da operação.</a:t>
            </a:r>
          </a:p>
          <a:p>
            <a:pPr>
              <a:spcAft>
                <a:spcPts val="10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❌  Desperdício de ativos em frotas por falta de preventiva.</a:t>
            </a:r>
          </a:p>
          <a:p>
            <a:pPr>
              <a:spcAft>
                <a:spcPts val="10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❌  Sistemas antigos desconectados ou planilhas difíceis.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C12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EF4444"/>
                </a:solidFill>
                <a:latin typeface="Arial"/>
              </a:defRPr>
            </a:pPr>
            <a:r>
              <a:t>IMPACTOS FINANCEIROS DIRETOS</a:t>
            </a:r>
          </a:p>
          <a:p>
            <a:pPr>
              <a:spcAft>
                <a:spcPts val="1400"/>
              </a:spcAft>
              <a:defRPr sz="1500">
                <a:solidFill>
                  <a:srgbClr val="A1A1AA"/>
                </a:solidFill>
                <a:latin typeface="Arial"/>
              </a:defRPr>
            </a:pPr>
            <a:r>
              <a:t>A ineficiência operacional do controle manual gera desperdícios graves:</a:t>
            </a:r>
            <a:br/>
            <a:br/>
            <a:r>
              <a:t>•  Perda financeira de até 15% por vazamento de caixa e faturamento incorreto.</a:t>
            </a:r>
            <a:br/>
            <a:r>
              <a:t>•  Redução drástica de produtividade dos mecânicos e frotas paradas por quebra corretiva.</a:t>
            </a:r>
            <a:br/>
            <a:r>
              <a:t>•  Dificuldade gerencial por falta de dados para tomadas de decisão rápidas.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4 de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900"/>
                </a:solidFill>
                <a:latin typeface="Arial"/>
              </a:defRPr>
            </a:pPr>
            <a:r>
              <a:t>ECOSSISTEMA SUZANO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Nossa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1A1AA"/>
                </a:solidFill>
                <a:latin typeface="Arial"/>
              </a:defRPr>
            </a:pPr>
            <a:r>
              <a:t>Centralizamos toda a gestão operacional, de frotas e financeira em um único ecossistema em nuvem.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2499055" cy="34747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3161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Gestão de Oficina</a:t>
            </a:r>
          </a:p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Ordens de serviço digitais, controle completo de peças, cadastros de clientes e histórico por placa.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377440"/>
            <a:ext cx="2499055" cy="34747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2560320"/>
            <a:ext cx="23161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Gestão de Frotas</a:t>
            </a:r>
          </a:p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Controle inteligente de pneus, consumo de combustível, motoristas e planos de manutenção preventiva.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77440"/>
            <a:ext cx="2499055" cy="34747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59" y="2560320"/>
            <a:ext cx="23161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Controle Financeiro</a:t>
            </a:r>
          </a:p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Contas a pagar/receber integradas à operação, DRE estruturado e acompanhamento de fluxo de caixa.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2377440"/>
            <a:ext cx="2499055" cy="34747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2560320"/>
            <a:ext cx="23161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Inteligência Artificial</a:t>
            </a:r>
          </a:p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Modelagem preditiva CMH-AI para geração automática de NF-e e diagnósticos de desgaste.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5 de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900"/>
                </a:solidFill>
                <a:latin typeface="Arial"/>
              </a:defRPr>
            </a:pPr>
            <a:r>
              <a:t>OPERAÇÃO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Módulo: Gestão de Oficina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Controle absoluto da oficina mecânica: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✓  Cadastro rápido de clientes e veículos integrados.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✓  Orçamentos comerciais digitais com envio em 1 clique.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✓  Ordens de serviço com controle de horas trabalhadas.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✓  Gestão de estoque de peças com reposição sugerida.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✓  Controle de comissões de mecânicos e consultores.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✓  Emissão de Notas Fiscais Eletrônicas de Serviço (NF-e).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400" b="1">
                <a:solidFill>
                  <a:srgbClr val="FF7900"/>
                </a:solidFill>
                <a:latin typeface="Arial"/>
              </a:defRPr>
            </a:pPr>
            <a:r>
              <a:t>RESULTADOS OPERACIONAIS</a:t>
            </a:r>
          </a:p>
          <a:p>
            <a:pPr>
              <a:defRPr sz="1500">
                <a:solidFill>
                  <a:srgbClr val="A1A1AA"/>
                </a:solidFill>
                <a:latin typeface="Arial"/>
              </a:defRPr>
            </a:pPr>
            <a:r>
              <a:t>A digitalização de processos da Suzano IT gera impacto instantâneo:</a:t>
            </a:r>
            <a:br/>
            <a:br/>
            <a:r>
              <a:t>•  Organização completa do pátio mecânico.</a:t>
            </a:r>
            <a:br/>
            <a:r>
              <a:t>•  Melhoria média de 20% no faturamento bruto.</a:t>
            </a:r>
            <a:br/>
            <a:r>
              <a:t>•  Eliminação de erros de digitação e retrabalho.</a:t>
            </a:r>
            <a:br/>
            <a:r>
              <a:t>•  Aumento de confiança do cliente final com laudo online.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6 de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900"/>
                </a:solidFill>
                <a:latin typeface="Arial"/>
              </a:defRPr>
            </a:pPr>
            <a:r>
              <a:t>CONTROLE DE 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Módulo: Gestão de Frotas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Visão geral e preventiva da frota: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✓  Cadastro de veículos e subfrotas organizacionais.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✓  Gestão ativa de condutores e histórico de multas.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✓  Controle de abastecimento, média de consumo e CPK.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✓  Manutenção preventiva com alertas baseados em KM/Tempo.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✓  Controle de vida útil de pneus com histórico de rodagem.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✓  Rastreabilidade de custos e controle financeiro de ativos.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400" b="1">
                <a:solidFill>
                  <a:srgbClr val="FF7900"/>
                </a:solidFill>
                <a:latin typeface="Arial"/>
              </a:defRPr>
            </a:pPr>
            <a:r>
              <a:t>BENEFÍCIOS NA GESTÃO DE FROTA</a:t>
            </a:r>
          </a:p>
          <a:p>
            <a:pPr>
              <a:defRPr sz="1500">
                <a:solidFill>
                  <a:srgbClr val="A1A1AA"/>
                </a:solidFill>
                <a:latin typeface="Arial"/>
              </a:defRPr>
            </a:pPr>
            <a:r>
              <a:t>Economia em escala para empresas frotistas:</a:t>
            </a:r>
            <a:br/>
            <a:br/>
            <a:r>
              <a:t>•  Redução de custos operacionais diretos por manutenção planejada.</a:t>
            </a:r>
            <a:br/>
            <a:r>
              <a:t>•  Maior disponibilidade física dos veículos nas ruas.</a:t>
            </a:r>
            <a:br/>
            <a:r>
              <a:t>•  Prevenção de quebras graves e paradas indesejadas.</a:t>
            </a:r>
            <a:br/>
            <a:r>
              <a:t>•  Auditoria de consumo de combustível simplificada.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7 de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900"/>
                </a:solidFill>
                <a:latin typeface="Arial"/>
              </a:defRPr>
            </a:pPr>
            <a:r>
              <a:t>TECNOLOGIA CMH-AI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Inteligência Artificial Integrada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Inteligência operacional no pós-venda: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✨  Geração de descrição de serviços para NF-e a partir de rascunhos informais.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✨  Sugestão preditiva de serviços adicionais baseada no modelo de uso do carro.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✨  Análise estatística para identificação preditiva de padrões de falhas mecânicas.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✨  Relatórios inteligentes para tomadas de decisão sem complexidade.</a:t>
            </a:r>
          </a:p>
          <a:p>
            <a:pPr>
              <a:spcAft>
                <a:spcPts val="10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✨  Dashboards preditivos com alertas antecipados de manutenção crítica.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7900"/>
                </a:solidFill>
                <a:latin typeface="Arial"/>
              </a:defRPr>
            </a:pPr>
            <a:r>
              <a:t>EXEMPLO DE USO PRÁTICO (CMH-AI)</a:t>
            </a:r>
          </a:p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Rascunho de Entrada do Mecânico:</a:t>
            </a:r>
            <a:br/>
            <a:r>
              <a:t>'troca oleo velas filtro ar Corolla'</a:t>
            </a:r>
            <a:br/>
            <a:br/>
            <a:r>
              <a:t>Retorno da IA de Faturamento:</a:t>
            </a:r>
            <a:br/>
            <a:r>
              <a:t>'Prestação de serviços mecânicos englobando diagnóstico computadorizado de injeção, substituição preventiva do filtro de ar e velas de ignição originais, com revisão detalhada do plano de lubrificação do motor.'</a:t>
            </a:r>
            <a:br/>
            <a:br/>
            <a:r>
              <a:t>Benefício: Economia de tempo administrativa de recepção.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8 de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900"/>
                </a:solidFill>
                <a:latin typeface="Arial"/>
              </a:defRPr>
            </a:pPr>
            <a:r>
              <a:t>POR QUE A SUZANO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Diferenciais Competitivos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13455" cy="182880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2305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7900"/>
                </a:solidFill>
                <a:latin typeface="Arial"/>
              </a:defRPr>
            </a:pPr>
            <a:r>
              <a:t>SaaS Multiempresa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Isolamento lógico absoluto e suporte completo para franquias e filiais.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828800"/>
            <a:ext cx="3413455" cy="182880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59" y="1920240"/>
            <a:ext cx="32305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7900"/>
                </a:solidFill>
                <a:latin typeface="Arial"/>
              </a:defRPr>
            </a:pPr>
            <a:r>
              <a:t>Tabela FIPE Nativa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Valores atualizados de mercado integrados diretamente às fichas do veículo.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413455" cy="182880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920240"/>
            <a:ext cx="32305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7900"/>
                </a:solidFill>
                <a:latin typeface="Arial"/>
              </a:defRPr>
            </a:pPr>
            <a:r>
              <a:t>ReceitaWS Integrada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Preenchimento imediato de cadastros de pessoas jurídicas usando apenas CNPJ.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3413455" cy="182880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32305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7900"/>
                </a:solidFill>
                <a:latin typeface="Arial"/>
              </a:defRPr>
            </a:pPr>
            <a:r>
              <a:t>Faturamento NF-e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Emissão tributária ágil em conformidade com as legislações vigentes.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4023360"/>
            <a:ext cx="3413455" cy="182880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4114800"/>
            <a:ext cx="32305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7900"/>
                </a:solidFill>
                <a:latin typeface="Arial"/>
              </a:defRPr>
            </a:pPr>
            <a:r>
              <a:t>Segurança &amp; LGPD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Dados protegidos com criptografia de alto nível e políticas rígidas de acesso.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023360"/>
            <a:ext cx="3413455" cy="182880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4114800"/>
            <a:ext cx="32305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7900"/>
                </a:solidFill>
                <a:latin typeface="Arial"/>
              </a:defRPr>
            </a:pPr>
            <a:r>
              <a:t>Cloud Elasticidade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Hospedagem elástica AWS e atualizações automáticas sem necessidade de intervenção.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9 de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900"/>
                </a:solidFill>
                <a:latin typeface="Arial"/>
              </a:defRPr>
            </a:pPr>
            <a:r>
              <a:t>MONETIZAÇÃO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Modelo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1A1AA"/>
                </a:solidFill>
                <a:latin typeface="Arial"/>
              </a:defRPr>
            </a:pPr>
            <a:r>
              <a:t>Assinaturas mensais recorrentes (MRR) estruturadas para crescer conforme o uso e porte do cliente.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413455" cy="39319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323057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STARTER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R$ 199 / mês</a:t>
            </a:r>
          </a:p>
          <a:p>
            <a:pPr>
              <a:spcAft>
                <a:spcPts val="1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Pequenas Oficinas</a:t>
            </a:r>
          </a:p>
          <a:p>
            <a:pPr>
              <a:spcAft>
                <a:spcPts val="6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•  Funcionalidades essenciais</a:t>
            </a:r>
          </a:p>
          <a:p>
            <a:pPr>
              <a:spcAft>
                <a:spcPts val="6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•  Gestão de OS e Cadastros</a:t>
            </a:r>
          </a:p>
          <a:p>
            <a:pPr>
              <a:spcAft>
                <a:spcPts val="6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•  Orçamentos comerciais</a:t>
            </a:r>
          </a:p>
          <a:p>
            <a:pPr>
              <a:spcAft>
                <a:spcPts val="6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•  Suporte digital básico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103120"/>
            <a:ext cx="3413455" cy="3931920"/>
          </a:xfrm>
          <a:prstGeom prst="rect">
            <a:avLst/>
          </a:prstGeom>
          <a:solidFill>
            <a:srgbClr val="121E31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2286000"/>
            <a:ext cx="323057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PROFESSIONAL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R$ 499 / mês</a:t>
            </a:r>
          </a:p>
          <a:p>
            <a:pPr>
              <a:spcAft>
                <a:spcPts val="1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Empresas em Crescimento</a:t>
            </a:r>
          </a:p>
          <a:p>
            <a:pPr>
              <a:spcAft>
                <a:spcPts val="6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•  Gestão de Oficina completa</a:t>
            </a:r>
          </a:p>
          <a:p>
            <a:pPr>
              <a:spcAft>
                <a:spcPts val="6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•  Módulo de Frotas básico</a:t>
            </a:r>
          </a:p>
          <a:p>
            <a:pPr>
              <a:spcAft>
                <a:spcPts val="6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•  Controle financeiro avançado</a:t>
            </a:r>
          </a:p>
          <a:p>
            <a:pPr>
              <a:spcAft>
                <a:spcPts val="6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•  Emissão integrada de NF-e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03120"/>
            <a:ext cx="3413455" cy="39319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286000"/>
            <a:ext cx="323057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ENTERPRISE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Sob Consulta</a:t>
            </a:r>
          </a:p>
          <a:p>
            <a:pPr>
              <a:spcAft>
                <a:spcPts val="18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Grandes Operações</a:t>
            </a:r>
          </a:p>
          <a:p>
            <a:pPr>
              <a:spcAft>
                <a:spcPts val="6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•  Frotistas e transportadoras</a:t>
            </a:r>
          </a:p>
          <a:p>
            <a:pPr>
              <a:spcAft>
                <a:spcPts val="6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•  Integrações de API personalizadas</a:t>
            </a:r>
          </a:p>
          <a:p>
            <a:pPr>
              <a:spcAft>
                <a:spcPts val="6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•  Arquitetura sob demanda</a:t>
            </a:r>
          </a:p>
          <a:p>
            <a:pPr>
              <a:spcAft>
                <a:spcPts val="600"/>
              </a:spcAft>
              <a:defRPr sz="1200">
                <a:solidFill>
                  <a:srgbClr val="A1A1AA"/>
                </a:solidFill>
                <a:latin typeface="Arial"/>
              </a:defRPr>
            </a:pPr>
            <a:r>
              <a:t>•  Suporte e SLA dedicado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10 de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900"/>
                </a:solidFill>
                <a:latin typeface="Arial"/>
              </a:defRPr>
            </a:pPr>
            <a:r>
              <a:t>PÚBLICO E POTENCIAL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Mercado Alvo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Quem são nossos clientes:</a:t>
            </a:r>
          </a:p>
          <a:p>
            <a:pPr>
              <a:spcAft>
                <a:spcPts val="12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•  Oficinas mecânicas e auto centers independentes.</a:t>
            </a:r>
          </a:p>
          <a:p>
            <a:pPr>
              <a:spcAft>
                <a:spcPts val="12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•  Transportadoras, frotas corporativas e logísticas.</a:t>
            </a:r>
          </a:p>
          <a:p>
            <a:pPr>
              <a:spcAft>
                <a:spcPts val="12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•  Locadoras de veículos e cooperativas de táxi/aplicativos.</a:t>
            </a:r>
          </a:p>
          <a:p>
            <a:pPr>
              <a:spcAft>
                <a:spcPts val="12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•  Concessionárias de veículos e redes de autopeças.</a:t>
            </a:r>
          </a:p>
          <a:p>
            <a:pPr>
              <a:spcAft>
                <a:spcPts val="1200"/>
              </a:spcAft>
              <a:defRPr sz="1400">
                <a:solidFill>
                  <a:srgbClr val="A1A1AA"/>
                </a:solidFill>
                <a:latin typeface="Arial"/>
              </a:defRPr>
            </a:pPr>
            <a:r>
              <a:t>•  Prefeituras municipais e órgãos governamentais.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400" b="1">
                <a:solidFill>
                  <a:srgbClr val="FF7900"/>
                </a:solidFill>
                <a:latin typeface="Arial"/>
              </a:defRPr>
            </a:pPr>
            <a:r>
              <a:t>POTENCIAL DE CRESCIMENTO</a:t>
            </a:r>
          </a:p>
          <a:p>
            <a:pPr>
              <a:defRPr sz="1500">
                <a:solidFill>
                  <a:srgbClr val="A1A1AA"/>
                </a:solidFill>
                <a:latin typeface="Arial"/>
              </a:defRPr>
            </a:pPr>
            <a:r>
              <a:t>O mercado brasileiro conta com mais de 100 mil oficinas de pós-venda cadastradas e um crescimento acelerado no número de empresas optando por gerenciar frotas próprias para reduzir custos de distribuição.</a:t>
            </a:r>
            <a:br/>
            <a:br/>
            <a:r>
              <a:t>A digitalização e a inteligência operacional são as maiores prioridades para o setor nos próximos anos.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11 de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900"/>
                </a:solidFill>
                <a:latin typeface="Arial"/>
              </a:defRPr>
            </a:pPr>
            <a:r>
              <a:t>TECNOLOGIA 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Arquitetura Tecnológica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99055" cy="39319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31617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Frontend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React</a:t>
            </a:r>
            <a:br/>
            <a:r>
              <a:t>TypeScript</a:t>
            </a:r>
            <a:br/>
            <a:r>
              <a:t>Tailwind CSS</a:t>
            </a:r>
            <a:br/>
            <a:br/>
            <a:r>
              <a:t>•  Interface SPA responsiva e veloz.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499055" cy="39319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231617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Backend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Kotlin</a:t>
            </a:r>
            <a:br/>
            <a:r>
              <a:t>Spring Boot</a:t>
            </a:r>
            <a:br/>
            <a:r>
              <a:t>Java Virtual Machine</a:t>
            </a:r>
            <a:br/>
            <a:br/>
            <a:r>
              <a:t>•  Segurança robusta e performance corporativa.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2499055" cy="39319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59" y="2011680"/>
            <a:ext cx="231617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Banco de Dados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PostgreSQL</a:t>
            </a:r>
            <a:br/>
            <a:br/>
            <a:br/>
            <a:r>
              <a:t>•  Persistência relacional estável com alta auditabilidade.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828800"/>
            <a:ext cx="2499055" cy="39319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0" y="2011680"/>
            <a:ext cx="231617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Segurança &amp; Cloud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JWT Autenticação</a:t>
            </a:r>
            <a:br/>
            <a:r>
              <a:t>Docker Containers</a:t>
            </a:r>
            <a:br/>
            <a:r>
              <a:t>AWS Cloud</a:t>
            </a:r>
            <a:br/>
            <a:br/>
            <a:r>
              <a:t>•  Segurança corporativa aderente à LGPD.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12 de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079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900"/>
                </a:solidFill>
                <a:latin typeface="Arial"/>
              </a:defRPr>
            </a:pPr>
            <a:r>
              <a:t>CRONOGRAMA DE LANÇAMENTO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Roadmap de Evolução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401775" cy="3474720"/>
          </a:xfrm>
          <a:prstGeom prst="rect">
            <a:avLst/>
          </a:prstGeom>
          <a:solidFill>
            <a:srgbClr val="101B17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31033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Fase 1</a:t>
            </a:r>
          </a:p>
          <a:p>
            <a:pPr>
              <a:spcAft>
                <a:spcPts val="1800"/>
              </a:spcAft>
              <a:defRPr sz="1200" b="1">
                <a:solidFill>
                  <a:srgbClr val="FF7900"/>
                </a:solidFill>
                <a:latin typeface="Arial"/>
              </a:defRPr>
            </a:pPr>
            <a:r>
              <a:t>Gestão Oficina</a:t>
            </a:r>
          </a:p>
          <a:p>
            <a:pPr>
              <a:defRPr sz="1100">
                <a:solidFill>
                  <a:srgbClr val="22C55E"/>
                </a:solidFill>
                <a:latin typeface="Arial"/>
              </a:defRPr>
            </a:pPr>
            <a:r>
              <a:t>✓ Concluído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103120"/>
            <a:ext cx="1401775" cy="3474720"/>
          </a:xfrm>
          <a:prstGeom prst="rect">
            <a:avLst/>
          </a:prstGeom>
          <a:solidFill>
            <a:srgbClr val="101B17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31720" y="2286000"/>
            <a:ext cx="131033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Fase 2</a:t>
            </a:r>
          </a:p>
          <a:p>
            <a:pPr>
              <a:spcAft>
                <a:spcPts val="1800"/>
              </a:spcAft>
              <a:defRPr sz="1200" b="1">
                <a:solidFill>
                  <a:srgbClr val="FF7900"/>
                </a:solidFill>
                <a:latin typeface="Arial"/>
              </a:defRPr>
            </a:pPr>
            <a:r>
              <a:t>Gestão Frota</a:t>
            </a:r>
          </a:p>
          <a:p>
            <a:pPr>
              <a:defRPr sz="1100">
                <a:solidFill>
                  <a:srgbClr val="22C55E"/>
                </a:solidFill>
                <a:latin typeface="Arial"/>
              </a:defRPr>
            </a:pPr>
            <a:r>
              <a:t>✓ Concluído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103120"/>
            <a:ext cx="1401775" cy="3474720"/>
          </a:xfrm>
          <a:prstGeom prst="rect">
            <a:avLst/>
          </a:prstGeom>
          <a:solidFill>
            <a:srgbClr val="101B17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86200" y="2286000"/>
            <a:ext cx="1310335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rPr dirty="0"/>
              <a:t>Fase 3</a:t>
            </a:r>
          </a:p>
          <a:p>
            <a:pPr>
              <a:spcAft>
                <a:spcPts val="1800"/>
              </a:spcAft>
              <a:defRPr sz="1200" b="1">
                <a:solidFill>
                  <a:srgbClr val="FF7900"/>
                </a:solidFill>
                <a:latin typeface="Arial"/>
              </a:defRPr>
            </a:pPr>
            <a:r>
              <a:rPr dirty="0" err="1"/>
              <a:t>Integração</a:t>
            </a:r>
            <a:r>
              <a:rPr dirty="0"/>
              <a:t> NF-e</a:t>
            </a:r>
            <a:endParaRPr lang="pt-BR" dirty="0"/>
          </a:p>
          <a:p>
            <a:pPr>
              <a:defRPr sz="1100">
                <a:solidFill>
                  <a:srgbClr val="22C55E"/>
                </a:solidFill>
                <a:latin typeface="Arial"/>
              </a:defRPr>
            </a:pPr>
            <a:r>
              <a:rPr lang="pt-BR" dirty="0"/>
              <a:t>✓ Futuro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2103120"/>
            <a:ext cx="1401775" cy="3474720"/>
          </a:xfrm>
          <a:prstGeom prst="rect">
            <a:avLst/>
          </a:prstGeom>
          <a:solidFill>
            <a:srgbClr val="101B17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80" y="2286000"/>
            <a:ext cx="1310335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rPr dirty="0"/>
              <a:t>Fase 4</a:t>
            </a:r>
          </a:p>
          <a:p>
            <a:pPr>
              <a:spcAft>
                <a:spcPts val="1800"/>
              </a:spcAft>
              <a:defRPr sz="1200" b="1">
                <a:solidFill>
                  <a:srgbClr val="FF7900"/>
                </a:solidFill>
                <a:latin typeface="Arial"/>
              </a:defRPr>
            </a:pPr>
            <a:r>
              <a:rPr dirty="0" err="1"/>
              <a:t>Inteligência</a:t>
            </a:r>
            <a:r>
              <a:rPr dirty="0"/>
              <a:t> </a:t>
            </a:r>
            <a:r>
              <a:rPr dirty="0" err="1"/>
              <a:t>Artif</a:t>
            </a:r>
            <a:r>
              <a:rPr dirty="0"/>
              <a:t>.</a:t>
            </a:r>
          </a:p>
          <a:p>
            <a:pPr>
              <a:defRPr sz="1100">
                <a:solidFill>
                  <a:srgbClr val="22C55E"/>
                </a:solidFill>
                <a:latin typeface="Arial"/>
              </a:defRPr>
            </a:pPr>
            <a:r>
              <a:rPr lang="pt-BR" dirty="0"/>
              <a:t>Futuro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6949440" y="2103120"/>
            <a:ext cx="1401775" cy="3474720"/>
          </a:xfrm>
          <a:prstGeom prst="rect">
            <a:avLst/>
          </a:prstGeom>
          <a:solidFill>
            <a:srgbClr val="101728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59" y="2286000"/>
            <a:ext cx="1310335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rPr dirty="0"/>
              <a:t>Fase 5</a:t>
            </a:r>
          </a:p>
          <a:p>
            <a:pPr>
              <a:spcAft>
                <a:spcPts val="1800"/>
              </a:spcAft>
              <a:defRPr sz="1200" b="1">
                <a:solidFill>
                  <a:srgbClr val="FF7900"/>
                </a:solidFill>
                <a:latin typeface="Arial"/>
              </a:defRPr>
            </a:pPr>
            <a:r>
              <a:rPr dirty="0" err="1"/>
              <a:t>Aplicativo</a:t>
            </a:r>
            <a:r>
              <a:rPr dirty="0"/>
              <a:t> Mobile</a:t>
            </a:r>
          </a:p>
          <a:p>
            <a:pPr>
              <a:defRPr sz="1100">
                <a:solidFill>
                  <a:srgbClr val="FF7900"/>
                </a:solidFill>
                <a:latin typeface="Arial"/>
              </a:defRPr>
            </a:pPr>
            <a:r>
              <a:rPr lang="pt-BR" dirty="0"/>
              <a:t>Futuro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503920" y="2103120"/>
            <a:ext cx="1401775" cy="34747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286000"/>
            <a:ext cx="131033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Fase 6</a:t>
            </a:r>
          </a:p>
          <a:p>
            <a:pPr>
              <a:spcAft>
                <a:spcPts val="1800"/>
              </a:spcAft>
              <a:defRPr sz="1200" b="1">
                <a:solidFill>
                  <a:srgbClr val="FF7900"/>
                </a:solidFill>
                <a:latin typeface="Arial"/>
              </a:defRPr>
            </a:pPr>
            <a:r>
              <a:t>Marketplace</a:t>
            </a:r>
          </a:p>
          <a:p>
            <a:pPr>
              <a:defRPr sz="1100">
                <a:solidFill>
                  <a:srgbClr val="A1A1AA"/>
                </a:solidFill>
                <a:latin typeface="Arial"/>
              </a:defRPr>
            </a:pPr>
            <a:r>
              <a:t>Futuro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2103120"/>
            <a:ext cx="1401775" cy="34747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04120" y="2286000"/>
            <a:ext cx="131033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Fase 7</a:t>
            </a:r>
          </a:p>
          <a:p>
            <a:pPr>
              <a:spcAft>
                <a:spcPts val="1800"/>
              </a:spcAft>
              <a:defRPr sz="1200" b="1">
                <a:solidFill>
                  <a:srgbClr val="FF7900"/>
                </a:solidFill>
                <a:latin typeface="Arial"/>
              </a:defRPr>
            </a:pPr>
            <a:r>
              <a:t>BI &amp; Analytics</a:t>
            </a:r>
          </a:p>
          <a:p>
            <a:pPr>
              <a:defRPr sz="1100">
                <a:solidFill>
                  <a:srgbClr val="A1A1AA"/>
                </a:solidFill>
                <a:latin typeface="Arial"/>
              </a:defRPr>
            </a:pPr>
            <a:r>
              <a:t>Futuro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13 de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7900"/>
                </a:solidFill>
                <a:latin typeface="Arial"/>
              </a:defRPr>
            </a:pPr>
            <a:r>
              <a:t>RESULTADOS FINAIS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Benefícios para o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499055" cy="356616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31617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Redução de Custos</a:t>
            </a:r>
          </a:p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Evita quebras inesperadas através de cronogramas rígidos de manutenção preventiva na frota.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011680"/>
            <a:ext cx="2499055" cy="356616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2194560"/>
            <a:ext cx="231617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Organização Geral</a:t>
            </a:r>
          </a:p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Fluxo operacional padronizado desde a abertura da OS até o faturamento e envio de laudos.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2499055" cy="356616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59" y="2194560"/>
            <a:ext cx="231617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Decisões com Dados</a:t>
            </a:r>
          </a:p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Indicadores e relatórios consolidados em dashboards executivos em tempo real.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2011680"/>
            <a:ext cx="2499055" cy="356616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0" y="2194560"/>
            <a:ext cx="231617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7900"/>
                </a:solidFill>
                <a:latin typeface="Arial"/>
              </a:defRPr>
            </a:pPr>
            <a:r>
              <a:t>Produtividade Elevada</a:t>
            </a:r>
          </a:p>
          <a:p>
            <a:pPr>
              <a:defRPr sz="1300">
                <a:solidFill>
                  <a:srgbClr val="A1A1AA"/>
                </a:solidFill>
                <a:latin typeface="Arial"/>
              </a:defRPr>
            </a:pPr>
            <a:r>
              <a:t>Eliminação de controles em papéis e digitação manual por meio de automação e Inteligência Artificial.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14 de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28800" y="1371600"/>
            <a:ext cx="8534095" cy="4389120"/>
          </a:xfrm>
          <a:prstGeom prst="rect">
            <a:avLst/>
          </a:prstGeom>
          <a:solidFill>
            <a:srgbClr val="121316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82880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783080"/>
            <a:ext cx="3657600" cy="1188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Suzano</a:t>
            </a:r>
            <a:r>
              <a:rPr sz="4800" b="1">
                <a:solidFill>
                  <a:srgbClr val="FF7900"/>
                </a:solidFill>
                <a:latin typeface="Arial"/>
              </a:rPr>
              <a:t>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108960"/>
            <a:ext cx="7619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Tecnologia que move frotas.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749039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Website: www.suzanoit.com.br   |   E-mail: contato@suzanoit.com.br</a:t>
            </a:r>
          </a:p>
          <a:p>
            <a:pPr algn="ctr">
              <a:defRPr sz="1400" b="1">
                <a:solidFill>
                  <a:srgbClr val="FF7900"/>
                </a:solidFill>
                <a:latin typeface="Arial"/>
              </a:defRPr>
            </a:pPr>
            <a:r>
              <a:t>"Mais controle. Mais produtividade. Mais resultado."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1A1AA"/>
                </a:solidFill>
                <a:latin typeface="Arial"/>
              </a:defRPr>
            </a:pPr>
            <a:r>
              <a:t>SUZANO IT   |   Tecnologia que move frotas.                                                                                          Slide 15 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1521</Words>
  <Application>Microsoft Macintosh PowerPoint</Application>
  <PresentationFormat>Widescreen</PresentationFormat>
  <Paragraphs>184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Eng. Rafael Suzano Cruz</cp:lastModifiedBy>
  <cp:revision>2</cp:revision>
  <dcterms:created xsi:type="dcterms:W3CDTF">2013-01-27T09:14:16Z</dcterms:created>
  <dcterms:modified xsi:type="dcterms:W3CDTF">2026-06-07T16:29:22Z</dcterms:modified>
  <cp:category/>
</cp:coreProperties>
</file>